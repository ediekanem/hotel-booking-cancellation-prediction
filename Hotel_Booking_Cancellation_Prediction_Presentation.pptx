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02" autoAdjust="0"/>
    <p:restoredTop sz="81796" autoAdjust="0"/>
  </p:normalViewPr>
  <p:slideViewPr>
    <p:cSldViewPr snapToGrid="0" snapToObjects="1">
      <p:cViewPr varScale="1">
        <p:scale>
          <a:sx n="90" d="100"/>
          <a:sy n="90" d="100"/>
        </p:scale>
        <p:origin x="165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idiong Ekanem" userId="cb5e839971ac2b9c" providerId="LiveId" clId="{ABE0C71D-F6B8-4A47-8D54-407E65E2930F}"/>
    <pc:docChg chg="undo redo custSel modSld">
      <pc:chgData name="Edidiong Ekanem" userId="cb5e839971ac2b9c" providerId="LiveId" clId="{ABE0C71D-F6B8-4A47-8D54-407E65E2930F}" dt="2026-06-14T19:08:33.363" v="449" actId="14100"/>
      <pc:docMkLst>
        <pc:docMk/>
      </pc:docMkLst>
      <pc:sldChg chg="modSp mod">
        <pc:chgData name="Edidiong Ekanem" userId="cb5e839971ac2b9c" providerId="LiveId" clId="{ABE0C71D-F6B8-4A47-8D54-407E65E2930F}" dt="2026-06-14T19:08:33.363" v="449" actId="14100"/>
        <pc:sldMkLst>
          <pc:docMk/>
          <pc:sldMk cId="0" sldId="256"/>
        </pc:sldMkLst>
        <pc:spChg chg="mod">
          <ac:chgData name="Edidiong Ekanem" userId="cb5e839971ac2b9c" providerId="LiveId" clId="{ABE0C71D-F6B8-4A47-8D54-407E65E2930F}" dt="2026-06-14T19:08:33.363" v="449" actId="14100"/>
          <ac:spMkLst>
            <pc:docMk/>
            <pc:sldMk cId="0" sldId="256"/>
            <ac:spMk id="4" creationId="{00000000-0000-0000-0000-000000000000}"/>
          </ac:spMkLst>
        </pc:spChg>
        <pc:spChg chg="mod">
          <ac:chgData name="Edidiong Ekanem" userId="cb5e839971ac2b9c" providerId="LiveId" clId="{ABE0C71D-F6B8-4A47-8D54-407E65E2930F}" dt="2026-06-14T19:08:16.017" v="448" actId="20577"/>
          <ac:spMkLst>
            <pc:docMk/>
            <pc:sldMk cId="0" sldId="256"/>
            <ac:spMk id="8" creationId="{00000000-0000-0000-0000-000000000000}"/>
          </ac:spMkLst>
        </pc:spChg>
      </pc:sldChg>
      <pc:sldChg chg="modSp mod">
        <pc:chgData name="Edidiong Ekanem" userId="cb5e839971ac2b9c" providerId="LiveId" clId="{ABE0C71D-F6B8-4A47-8D54-407E65E2930F}" dt="2026-06-10T20:36:01.347" v="283" actId="12"/>
        <pc:sldMkLst>
          <pc:docMk/>
          <pc:sldMk cId="0" sldId="257"/>
        </pc:sldMkLst>
        <pc:spChg chg="mod">
          <ac:chgData name="Edidiong Ekanem" userId="cb5e839971ac2b9c" providerId="LiveId" clId="{ABE0C71D-F6B8-4A47-8D54-407E65E2930F}" dt="2026-06-10T20:36:01.347" v="283" actId="12"/>
          <ac:spMkLst>
            <pc:docMk/>
            <pc:sldMk cId="0" sldId="257"/>
            <ac:spMk id="18" creationId="{00000000-0000-0000-0000-000000000000}"/>
          </ac:spMkLst>
        </pc:spChg>
      </pc:sldChg>
      <pc:sldChg chg="modSp mod">
        <pc:chgData name="Edidiong Ekanem" userId="cb5e839971ac2b9c" providerId="LiveId" clId="{ABE0C71D-F6B8-4A47-8D54-407E65E2930F}" dt="2026-06-10T20:36:08.376" v="284" actId="12"/>
        <pc:sldMkLst>
          <pc:docMk/>
          <pc:sldMk cId="0" sldId="258"/>
        </pc:sldMkLst>
        <pc:spChg chg="mod">
          <ac:chgData name="Edidiong Ekanem" userId="cb5e839971ac2b9c" providerId="LiveId" clId="{ABE0C71D-F6B8-4A47-8D54-407E65E2930F}" dt="2026-06-10T20:36:08.376" v="284" actId="12"/>
          <ac:spMkLst>
            <pc:docMk/>
            <pc:sldMk cId="0" sldId="258"/>
            <ac:spMk id="7" creationId="{00000000-0000-0000-0000-000000000000}"/>
          </ac:spMkLst>
        </pc:spChg>
      </pc:sldChg>
      <pc:sldChg chg="modSp mod">
        <pc:chgData name="Edidiong Ekanem" userId="cb5e839971ac2b9c" providerId="LiveId" clId="{ABE0C71D-F6B8-4A47-8D54-407E65E2930F}" dt="2026-06-10T20:36:53.827" v="285" actId="12"/>
        <pc:sldMkLst>
          <pc:docMk/>
          <pc:sldMk cId="0" sldId="260"/>
        </pc:sldMkLst>
        <pc:spChg chg="mod">
          <ac:chgData name="Edidiong Ekanem" userId="cb5e839971ac2b9c" providerId="LiveId" clId="{ABE0C71D-F6B8-4A47-8D54-407E65E2930F}" dt="2026-06-10T20:36:53.827" v="285" actId="12"/>
          <ac:spMkLst>
            <pc:docMk/>
            <pc:sldMk cId="0" sldId="260"/>
            <ac:spMk id="19" creationId="{00000000-0000-0000-0000-000000000000}"/>
          </ac:spMkLst>
        </pc:spChg>
      </pc:sldChg>
      <pc:sldChg chg="modSp mod">
        <pc:chgData name="Edidiong Ekanem" userId="cb5e839971ac2b9c" providerId="LiveId" clId="{ABE0C71D-F6B8-4A47-8D54-407E65E2930F}" dt="2026-06-10T20:37:02.640" v="287" actId="12"/>
        <pc:sldMkLst>
          <pc:docMk/>
          <pc:sldMk cId="0" sldId="261"/>
        </pc:sldMkLst>
        <pc:spChg chg="mod">
          <ac:chgData name="Edidiong Ekanem" userId="cb5e839971ac2b9c" providerId="LiveId" clId="{ABE0C71D-F6B8-4A47-8D54-407E65E2930F}" dt="2026-06-10T20:37:00.139" v="286" actId="12"/>
          <ac:spMkLst>
            <pc:docMk/>
            <pc:sldMk cId="0" sldId="261"/>
            <ac:spMk id="7" creationId="{00000000-0000-0000-0000-000000000000}"/>
          </ac:spMkLst>
        </pc:spChg>
        <pc:spChg chg="mod">
          <ac:chgData name="Edidiong Ekanem" userId="cb5e839971ac2b9c" providerId="LiveId" clId="{ABE0C71D-F6B8-4A47-8D54-407E65E2930F}" dt="2026-06-10T20:37:02.640" v="287" actId="12"/>
          <ac:spMkLst>
            <pc:docMk/>
            <pc:sldMk cId="0" sldId="261"/>
            <ac:spMk id="12" creationId="{00000000-0000-0000-0000-000000000000}"/>
          </ac:spMkLst>
        </pc:spChg>
      </pc:sldChg>
      <pc:sldChg chg="modSp mod">
        <pc:chgData name="Edidiong Ekanem" userId="cb5e839971ac2b9c" providerId="LiveId" clId="{ABE0C71D-F6B8-4A47-8D54-407E65E2930F}" dt="2026-06-10T20:24:37.831" v="102" actId="27636"/>
        <pc:sldMkLst>
          <pc:docMk/>
          <pc:sldMk cId="0" sldId="262"/>
        </pc:sldMkLst>
        <pc:spChg chg="mod">
          <ac:chgData name="Edidiong Ekanem" userId="cb5e839971ac2b9c" providerId="LiveId" clId="{ABE0C71D-F6B8-4A47-8D54-407E65E2930F}" dt="2026-06-10T20:24:37.831" v="102" actId="27636"/>
          <ac:spMkLst>
            <pc:docMk/>
            <pc:sldMk cId="0" sldId="262"/>
            <ac:spMk id="6" creationId="{00000000-0000-0000-0000-000000000000}"/>
          </ac:spMkLst>
        </pc:spChg>
      </pc:sldChg>
      <pc:sldChg chg="modSp mod">
        <pc:chgData name="Edidiong Ekanem" userId="cb5e839971ac2b9c" providerId="LiveId" clId="{ABE0C71D-F6B8-4A47-8D54-407E65E2930F}" dt="2026-06-10T20:37:12.659" v="288" actId="12"/>
        <pc:sldMkLst>
          <pc:docMk/>
          <pc:sldMk cId="0" sldId="263"/>
        </pc:sldMkLst>
        <pc:spChg chg="mod">
          <ac:chgData name="Edidiong Ekanem" userId="cb5e839971ac2b9c" providerId="LiveId" clId="{ABE0C71D-F6B8-4A47-8D54-407E65E2930F}" dt="2026-06-10T20:37:12.659" v="288" actId="12"/>
          <ac:spMkLst>
            <pc:docMk/>
            <pc:sldMk cId="0" sldId="263"/>
            <ac:spMk id="7" creationId="{00000000-0000-0000-0000-000000000000}"/>
          </ac:spMkLst>
        </pc:spChg>
      </pc:sldChg>
      <pc:sldChg chg="modSp mod">
        <pc:chgData name="Edidiong Ekanem" userId="cb5e839971ac2b9c" providerId="LiveId" clId="{ABE0C71D-F6B8-4A47-8D54-407E65E2930F}" dt="2026-06-10T20:37:19.622" v="289" actId="12"/>
        <pc:sldMkLst>
          <pc:docMk/>
          <pc:sldMk cId="0" sldId="264"/>
        </pc:sldMkLst>
        <pc:spChg chg="mod">
          <ac:chgData name="Edidiong Ekanem" userId="cb5e839971ac2b9c" providerId="LiveId" clId="{ABE0C71D-F6B8-4A47-8D54-407E65E2930F}" dt="2026-06-10T20:37:19.622" v="289" actId="12"/>
          <ac:spMkLst>
            <pc:docMk/>
            <pc:sldMk cId="0" sldId="264"/>
            <ac:spMk id="7" creationId="{00000000-0000-0000-0000-000000000000}"/>
          </ac:spMkLst>
        </pc:spChg>
      </pc:sldChg>
      <pc:sldChg chg="modSp mod">
        <pc:chgData name="Edidiong Ekanem" userId="cb5e839971ac2b9c" providerId="LiveId" clId="{ABE0C71D-F6B8-4A47-8D54-407E65E2930F}" dt="2026-06-10T20:37:26.203" v="290" actId="12"/>
        <pc:sldMkLst>
          <pc:docMk/>
          <pc:sldMk cId="0" sldId="265"/>
        </pc:sldMkLst>
        <pc:spChg chg="mod">
          <ac:chgData name="Edidiong Ekanem" userId="cb5e839971ac2b9c" providerId="LiveId" clId="{ABE0C71D-F6B8-4A47-8D54-407E65E2930F}" dt="2026-06-10T20:24:37.831" v="103" actId="27636"/>
          <ac:spMkLst>
            <pc:docMk/>
            <pc:sldMk cId="0" sldId="265"/>
            <ac:spMk id="6" creationId="{00000000-0000-0000-0000-000000000000}"/>
          </ac:spMkLst>
        </pc:spChg>
        <pc:spChg chg="mod">
          <ac:chgData name="Edidiong Ekanem" userId="cb5e839971ac2b9c" providerId="LiveId" clId="{ABE0C71D-F6B8-4A47-8D54-407E65E2930F}" dt="2026-06-10T20:37:26.203" v="290" actId="12"/>
          <ac:spMkLst>
            <pc:docMk/>
            <pc:sldMk cId="0" sldId="265"/>
            <ac:spMk id="7" creationId="{00000000-0000-0000-0000-000000000000}"/>
          </ac:spMkLst>
        </pc:spChg>
      </pc:sldChg>
      <pc:sldChg chg="addSp delSp modSp mod">
        <pc:chgData name="Edidiong Ekanem" userId="cb5e839971ac2b9c" providerId="LiveId" clId="{ABE0C71D-F6B8-4A47-8D54-407E65E2930F}" dt="2026-06-10T20:33:50.231" v="270" actId="1035"/>
        <pc:sldMkLst>
          <pc:docMk/>
          <pc:sldMk cId="0" sldId="266"/>
        </pc:sldMkLst>
        <pc:spChg chg="mod">
          <ac:chgData name="Edidiong Ekanem" userId="cb5e839971ac2b9c" providerId="LiveId" clId="{ABE0C71D-F6B8-4A47-8D54-407E65E2930F}" dt="2026-06-10T20:28:11.752" v="163" actId="1036"/>
          <ac:spMkLst>
            <pc:docMk/>
            <pc:sldMk cId="0" sldId="266"/>
            <ac:spMk id="7" creationId="{00000000-0000-0000-0000-000000000000}"/>
          </ac:spMkLst>
        </pc:spChg>
        <pc:spChg chg="mod">
          <ac:chgData name="Edidiong Ekanem" userId="cb5e839971ac2b9c" providerId="LiveId" clId="{ABE0C71D-F6B8-4A47-8D54-407E65E2930F}" dt="2026-06-10T20:28:16.807" v="169" actId="1036"/>
          <ac:spMkLst>
            <pc:docMk/>
            <pc:sldMk cId="0" sldId="266"/>
            <ac:spMk id="8" creationId="{00000000-0000-0000-0000-000000000000}"/>
          </ac:spMkLst>
        </pc:spChg>
        <pc:spChg chg="mod">
          <ac:chgData name="Edidiong Ekanem" userId="cb5e839971ac2b9c" providerId="LiveId" clId="{ABE0C71D-F6B8-4A47-8D54-407E65E2930F}" dt="2026-06-10T20:28:20.867" v="175" actId="1036"/>
          <ac:spMkLst>
            <pc:docMk/>
            <pc:sldMk cId="0" sldId="266"/>
            <ac:spMk id="9" creationId="{00000000-0000-0000-0000-000000000000}"/>
          </ac:spMkLst>
        </pc:spChg>
        <pc:spChg chg="mod">
          <ac:chgData name="Edidiong Ekanem" userId="cb5e839971ac2b9c" providerId="LiveId" clId="{ABE0C71D-F6B8-4A47-8D54-407E65E2930F}" dt="2026-06-10T20:28:24.967" v="181" actId="1036"/>
          <ac:spMkLst>
            <pc:docMk/>
            <pc:sldMk cId="0" sldId="266"/>
            <ac:spMk id="10" creationId="{00000000-0000-0000-0000-000000000000}"/>
          </ac:spMkLst>
        </pc:spChg>
        <pc:spChg chg="mod">
          <ac:chgData name="Edidiong Ekanem" userId="cb5e839971ac2b9c" providerId="LiveId" clId="{ABE0C71D-F6B8-4A47-8D54-407E65E2930F}" dt="2026-06-10T20:28:28.561" v="187" actId="1036"/>
          <ac:spMkLst>
            <pc:docMk/>
            <pc:sldMk cId="0" sldId="266"/>
            <ac:spMk id="11" creationId="{00000000-0000-0000-0000-000000000000}"/>
          </ac:spMkLst>
        </pc:spChg>
        <pc:spChg chg="mod">
          <ac:chgData name="Edidiong Ekanem" userId="cb5e839971ac2b9c" providerId="LiveId" clId="{ABE0C71D-F6B8-4A47-8D54-407E65E2930F}" dt="2026-06-10T20:28:33.493" v="193" actId="1036"/>
          <ac:spMkLst>
            <pc:docMk/>
            <pc:sldMk cId="0" sldId="266"/>
            <ac:spMk id="12" creationId="{00000000-0000-0000-0000-000000000000}"/>
          </ac:spMkLst>
        </pc:spChg>
        <pc:spChg chg="mod">
          <ac:chgData name="Edidiong Ekanem" userId="cb5e839971ac2b9c" providerId="LiveId" clId="{ABE0C71D-F6B8-4A47-8D54-407E65E2930F}" dt="2026-06-10T20:28:40.885" v="199" actId="1036"/>
          <ac:spMkLst>
            <pc:docMk/>
            <pc:sldMk cId="0" sldId="266"/>
            <ac:spMk id="13" creationId="{00000000-0000-0000-0000-000000000000}"/>
          </ac:spMkLst>
        </pc:spChg>
        <pc:spChg chg="mod">
          <ac:chgData name="Edidiong Ekanem" userId="cb5e839971ac2b9c" providerId="LiveId" clId="{ABE0C71D-F6B8-4A47-8D54-407E65E2930F}" dt="2026-06-10T20:28:45.601" v="205" actId="1036"/>
          <ac:spMkLst>
            <pc:docMk/>
            <pc:sldMk cId="0" sldId="266"/>
            <ac:spMk id="14" creationId="{00000000-0000-0000-0000-000000000000}"/>
          </ac:spMkLst>
        </pc:spChg>
        <pc:spChg chg="mod">
          <ac:chgData name="Edidiong Ekanem" userId="cb5e839971ac2b9c" providerId="LiveId" clId="{ABE0C71D-F6B8-4A47-8D54-407E65E2930F}" dt="2026-06-10T20:33:28.246" v="263" actId="14100"/>
          <ac:spMkLst>
            <pc:docMk/>
            <pc:sldMk cId="0" sldId="266"/>
            <ac:spMk id="15" creationId="{00000000-0000-0000-0000-000000000000}"/>
          </ac:spMkLst>
        </pc:spChg>
        <pc:spChg chg="mod">
          <ac:chgData name="Edidiong Ekanem" userId="cb5e839971ac2b9c" providerId="LiveId" clId="{ABE0C71D-F6B8-4A47-8D54-407E65E2930F}" dt="2026-06-10T20:33:50.231" v="270" actId="1035"/>
          <ac:spMkLst>
            <pc:docMk/>
            <pc:sldMk cId="0" sldId="266"/>
            <ac:spMk id="17" creationId="{00000000-0000-0000-0000-000000000000}"/>
          </ac:spMkLst>
        </pc:spChg>
      </pc:sldChg>
      <pc:sldChg chg="modSp mod">
        <pc:chgData name="Edidiong Ekanem" userId="cb5e839971ac2b9c" providerId="LiveId" clId="{ABE0C71D-F6B8-4A47-8D54-407E65E2930F}" dt="2026-06-10T20:37:57.232" v="292" actId="255"/>
        <pc:sldMkLst>
          <pc:docMk/>
          <pc:sldMk cId="0" sldId="267"/>
        </pc:sldMkLst>
        <pc:spChg chg="mod">
          <ac:chgData name="Edidiong Ekanem" userId="cb5e839971ac2b9c" providerId="LiveId" clId="{ABE0C71D-F6B8-4A47-8D54-407E65E2930F}" dt="2026-06-10T20:34:41.207" v="274" actId="14100"/>
          <ac:spMkLst>
            <pc:docMk/>
            <pc:sldMk cId="0" sldId="267"/>
            <ac:spMk id="8" creationId="{00000000-0000-0000-0000-000000000000}"/>
          </ac:spMkLst>
        </pc:spChg>
        <pc:spChg chg="mod">
          <ac:chgData name="Edidiong Ekanem" userId="cb5e839971ac2b9c" providerId="LiveId" clId="{ABE0C71D-F6B8-4A47-8D54-407E65E2930F}" dt="2026-06-10T20:34:55.675" v="277" actId="403"/>
          <ac:spMkLst>
            <pc:docMk/>
            <pc:sldMk cId="0" sldId="267"/>
            <ac:spMk id="10" creationId="{00000000-0000-0000-0000-000000000000}"/>
          </ac:spMkLst>
        </pc:spChg>
        <pc:spChg chg="mod">
          <ac:chgData name="Edidiong Ekanem" userId="cb5e839971ac2b9c" providerId="LiveId" clId="{ABE0C71D-F6B8-4A47-8D54-407E65E2930F}" dt="2026-06-10T20:34:44.967" v="275" actId="14100"/>
          <ac:spMkLst>
            <pc:docMk/>
            <pc:sldMk cId="0" sldId="267"/>
            <ac:spMk id="11" creationId="{00000000-0000-0000-0000-000000000000}"/>
          </ac:spMkLst>
        </pc:spChg>
        <pc:spChg chg="mod">
          <ac:chgData name="Edidiong Ekanem" userId="cb5e839971ac2b9c" providerId="LiveId" clId="{ABE0C71D-F6B8-4A47-8D54-407E65E2930F}" dt="2026-06-10T20:37:57.232" v="292" actId="255"/>
          <ac:spMkLst>
            <pc:docMk/>
            <pc:sldMk cId="0" sldId="267"/>
            <ac:spMk id="13" creationId="{00000000-0000-0000-0000-000000000000}"/>
          </ac:spMkLst>
        </pc:spChg>
      </pc:sldChg>
      <pc:sldChg chg="modSp mod">
        <pc:chgData name="Edidiong Ekanem" userId="cb5e839971ac2b9c" providerId="LiveId" clId="{ABE0C71D-F6B8-4A47-8D54-407E65E2930F}" dt="2026-06-10T20:48:24.213" v="439" actId="1036"/>
        <pc:sldMkLst>
          <pc:docMk/>
          <pc:sldMk cId="0" sldId="268"/>
        </pc:sldMkLst>
        <pc:spChg chg="mod">
          <ac:chgData name="Edidiong Ekanem" userId="cb5e839971ac2b9c" providerId="LiveId" clId="{ABE0C71D-F6B8-4A47-8D54-407E65E2930F}" dt="2026-06-10T20:46:19.985" v="351" actId="14100"/>
          <ac:spMkLst>
            <pc:docMk/>
            <pc:sldMk cId="0" sldId="268"/>
            <ac:spMk id="7" creationId="{00000000-0000-0000-0000-000000000000}"/>
          </ac:spMkLst>
        </pc:spChg>
        <pc:spChg chg="mod">
          <ac:chgData name="Edidiong Ekanem" userId="cb5e839971ac2b9c" providerId="LiveId" clId="{ABE0C71D-F6B8-4A47-8D54-407E65E2930F}" dt="2026-06-10T20:45:59.632" v="346" actId="403"/>
          <ac:spMkLst>
            <pc:docMk/>
            <pc:sldMk cId="0" sldId="268"/>
            <ac:spMk id="9" creationId="{00000000-0000-0000-0000-000000000000}"/>
          </ac:spMkLst>
        </pc:spChg>
        <pc:spChg chg="mod">
          <ac:chgData name="Edidiong Ekanem" userId="cb5e839971ac2b9c" providerId="LiveId" clId="{ABE0C71D-F6B8-4A47-8D54-407E65E2930F}" dt="2026-06-10T20:46:55.089" v="377" actId="14100"/>
          <ac:spMkLst>
            <pc:docMk/>
            <pc:sldMk cId="0" sldId="268"/>
            <ac:spMk id="10" creationId="{00000000-0000-0000-0000-000000000000}"/>
          </ac:spMkLst>
        </pc:spChg>
        <pc:spChg chg="mod">
          <ac:chgData name="Edidiong Ekanem" userId="cb5e839971ac2b9c" providerId="LiveId" clId="{ABE0C71D-F6B8-4A47-8D54-407E65E2930F}" dt="2026-06-10T20:46:58.691" v="381" actId="1036"/>
          <ac:spMkLst>
            <pc:docMk/>
            <pc:sldMk cId="0" sldId="268"/>
            <ac:spMk id="11" creationId="{00000000-0000-0000-0000-000000000000}"/>
          </ac:spMkLst>
        </pc:spChg>
        <pc:spChg chg="mod">
          <ac:chgData name="Edidiong Ekanem" userId="cb5e839971ac2b9c" providerId="LiveId" clId="{ABE0C71D-F6B8-4A47-8D54-407E65E2930F}" dt="2026-06-10T20:45:55.761" v="345" actId="403"/>
          <ac:spMkLst>
            <pc:docMk/>
            <pc:sldMk cId="0" sldId="268"/>
            <ac:spMk id="12" creationId="{00000000-0000-0000-0000-000000000000}"/>
          </ac:spMkLst>
        </pc:spChg>
        <pc:spChg chg="mod">
          <ac:chgData name="Edidiong Ekanem" userId="cb5e839971ac2b9c" providerId="LiveId" clId="{ABE0C71D-F6B8-4A47-8D54-407E65E2930F}" dt="2026-06-10T20:47:19.820" v="383" actId="14100"/>
          <ac:spMkLst>
            <pc:docMk/>
            <pc:sldMk cId="0" sldId="268"/>
            <ac:spMk id="13" creationId="{00000000-0000-0000-0000-000000000000}"/>
          </ac:spMkLst>
        </pc:spChg>
        <pc:spChg chg="mod">
          <ac:chgData name="Edidiong Ekanem" userId="cb5e839971ac2b9c" providerId="LiveId" clId="{ABE0C71D-F6B8-4A47-8D54-407E65E2930F}" dt="2026-06-10T20:47:59.336" v="430" actId="1036"/>
          <ac:spMkLst>
            <pc:docMk/>
            <pc:sldMk cId="0" sldId="268"/>
            <ac:spMk id="14" creationId="{00000000-0000-0000-0000-000000000000}"/>
          </ac:spMkLst>
        </pc:spChg>
        <pc:spChg chg="mod">
          <ac:chgData name="Edidiong Ekanem" userId="cb5e839971ac2b9c" providerId="LiveId" clId="{ABE0C71D-F6B8-4A47-8D54-407E65E2930F}" dt="2026-06-10T20:47:50.303" v="417" actId="1036"/>
          <ac:spMkLst>
            <pc:docMk/>
            <pc:sldMk cId="0" sldId="268"/>
            <ac:spMk id="15" creationId="{00000000-0000-0000-0000-000000000000}"/>
          </ac:spMkLst>
        </pc:spChg>
        <pc:spChg chg="mod">
          <ac:chgData name="Edidiong Ekanem" userId="cb5e839971ac2b9c" providerId="LiveId" clId="{ABE0C71D-F6B8-4A47-8D54-407E65E2930F}" dt="2026-06-10T20:47:23.083" v="384" actId="14100"/>
          <ac:spMkLst>
            <pc:docMk/>
            <pc:sldMk cId="0" sldId="268"/>
            <ac:spMk id="16" creationId="{00000000-0000-0000-0000-000000000000}"/>
          </ac:spMkLst>
        </pc:spChg>
        <pc:spChg chg="mod">
          <ac:chgData name="Edidiong Ekanem" userId="cb5e839971ac2b9c" providerId="LiveId" clId="{ABE0C71D-F6B8-4A47-8D54-407E65E2930F}" dt="2026-06-10T20:48:04.528" v="436" actId="1036"/>
          <ac:spMkLst>
            <pc:docMk/>
            <pc:sldMk cId="0" sldId="268"/>
            <ac:spMk id="17" creationId="{00000000-0000-0000-0000-000000000000}"/>
          </ac:spMkLst>
        </pc:spChg>
        <pc:spChg chg="mod">
          <ac:chgData name="Edidiong Ekanem" userId="cb5e839971ac2b9c" providerId="LiveId" clId="{ABE0C71D-F6B8-4A47-8D54-407E65E2930F}" dt="2026-06-10T20:47:55.193" v="424" actId="1036"/>
          <ac:spMkLst>
            <pc:docMk/>
            <pc:sldMk cId="0" sldId="268"/>
            <ac:spMk id="18" creationId="{00000000-0000-0000-0000-000000000000}"/>
          </ac:spMkLst>
        </pc:spChg>
        <pc:spChg chg="mod">
          <ac:chgData name="Edidiong Ekanem" userId="cb5e839971ac2b9c" providerId="LiveId" clId="{ABE0C71D-F6B8-4A47-8D54-407E65E2930F}" dt="2026-06-10T20:48:18.813" v="437" actId="1036"/>
          <ac:spMkLst>
            <pc:docMk/>
            <pc:sldMk cId="0" sldId="268"/>
            <ac:spMk id="19" creationId="{00000000-0000-0000-0000-000000000000}"/>
          </ac:spMkLst>
        </pc:spChg>
        <pc:spChg chg="mod">
          <ac:chgData name="Edidiong Ekanem" userId="cb5e839971ac2b9c" providerId="LiveId" clId="{ABE0C71D-F6B8-4A47-8D54-407E65E2930F}" dt="2026-06-10T20:48:21.725" v="438" actId="1036"/>
          <ac:spMkLst>
            <pc:docMk/>
            <pc:sldMk cId="0" sldId="268"/>
            <ac:spMk id="20" creationId="{00000000-0000-0000-0000-000000000000}"/>
          </ac:spMkLst>
        </pc:spChg>
        <pc:spChg chg="mod">
          <ac:chgData name="Edidiong Ekanem" userId="cb5e839971ac2b9c" providerId="LiveId" clId="{ABE0C71D-F6B8-4A47-8D54-407E65E2930F}" dt="2026-06-10T20:48:24.213" v="439" actId="1036"/>
          <ac:spMkLst>
            <pc:docMk/>
            <pc:sldMk cId="0" sldId="268"/>
            <ac:spMk id="21" creationId="{00000000-0000-0000-0000-000000000000}"/>
          </ac:spMkLst>
        </pc:spChg>
      </pc:sldChg>
      <pc:sldChg chg="modSp mod">
        <pc:chgData name="Edidiong Ekanem" userId="cb5e839971ac2b9c" providerId="LiveId" clId="{ABE0C71D-F6B8-4A47-8D54-407E65E2930F}" dt="2026-06-10T20:39:18.772" v="338" actId="14100"/>
        <pc:sldMkLst>
          <pc:docMk/>
          <pc:sldMk cId="0" sldId="269"/>
        </pc:sldMkLst>
        <pc:spChg chg="mod">
          <ac:chgData name="Edidiong Ekanem" userId="cb5e839971ac2b9c" providerId="LiveId" clId="{ABE0C71D-F6B8-4A47-8D54-407E65E2930F}" dt="2026-06-10T20:39:18.772" v="338" actId="14100"/>
          <ac:spMkLst>
            <pc:docMk/>
            <pc:sldMk cId="0" sldId="269"/>
            <ac:spMk id="5" creationId="{00000000-0000-0000-0000-000000000000}"/>
          </ac:spMkLst>
        </pc:spChg>
        <pc:spChg chg="mod">
          <ac:chgData name="Edidiong Ekanem" userId="cb5e839971ac2b9c" providerId="LiveId" clId="{ABE0C71D-F6B8-4A47-8D54-407E65E2930F}" dt="2026-06-10T20:38:57.112" v="322" actId="1036"/>
          <ac:spMkLst>
            <pc:docMk/>
            <pc:sldMk cId="0" sldId="269"/>
            <ac:spMk id="6" creationId="{00000000-0000-0000-0000-000000000000}"/>
          </ac:spMkLst>
        </pc:spChg>
        <pc:spChg chg="mod">
          <ac:chgData name="Edidiong Ekanem" userId="cb5e839971ac2b9c" providerId="LiveId" clId="{ABE0C71D-F6B8-4A47-8D54-407E65E2930F}" dt="2026-06-10T20:39:02.711" v="336" actId="1036"/>
          <ac:spMkLst>
            <pc:docMk/>
            <pc:sldMk cId="0" sldId="269"/>
            <ac:spMk id="7" creationId="{00000000-0000-0000-0000-000000000000}"/>
          </ac:spMkLst>
        </pc:spChg>
        <pc:picChg chg="mod">
          <ac:chgData name="Edidiong Ekanem" userId="cb5e839971ac2b9c" providerId="LiveId" clId="{ABE0C71D-F6B8-4A47-8D54-407E65E2930F}" dt="2026-06-10T20:31:59.641" v="253" actId="14100"/>
          <ac:picMkLst>
            <pc:docMk/>
            <pc:sldMk cId="0" sldId="269"/>
            <ac:picMk id="8" creationId="{00000000-0000-0000-0000-000000000000}"/>
          </ac:picMkLst>
        </pc:picChg>
      </pc:sldChg>
      <pc:sldChg chg="modSp mod">
        <pc:chgData name="Edidiong Ekanem" userId="cb5e839971ac2b9c" providerId="LiveId" clId="{ABE0C71D-F6B8-4A47-8D54-407E65E2930F}" dt="2026-06-10T20:32:56.409" v="262" actId="403"/>
        <pc:sldMkLst>
          <pc:docMk/>
          <pc:sldMk cId="0" sldId="271"/>
        </pc:sldMkLst>
        <pc:spChg chg="mod">
          <ac:chgData name="Edidiong Ekanem" userId="cb5e839971ac2b9c" providerId="LiveId" clId="{ABE0C71D-F6B8-4A47-8D54-407E65E2930F}" dt="2026-06-10T20:32:42.745" v="260" actId="403"/>
          <ac:spMkLst>
            <pc:docMk/>
            <pc:sldMk cId="0" sldId="271"/>
            <ac:spMk id="7" creationId="{00000000-0000-0000-0000-000000000000}"/>
          </ac:spMkLst>
        </pc:spChg>
        <pc:spChg chg="mod">
          <ac:chgData name="Edidiong Ekanem" userId="cb5e839971ac2b9c" providerId="LiveId" clId="{ABE0C71D-F6B8-4A47-8D54-407E65E2930F}" dt="2026-06-10T20:21:44.621" v="63" actId="1076"/>
          <ac:spMkLst>
            <pc:docMk/>
            <pc:sldMk cId="0" sldId="271"/>
            <ac:spMk id="8" creationId="{00000000-0000-0000-0000-000000000000}"/>
          </ac:spMkLst>
        </pc:spChg>
        <pc:spChg chg="mod">
          <ac:chgData name="Edidiong Ekanem" userId="cb5e839971ac2b9c" providerId="LiveId" clId="{ABE0C71D-F6B8-4A47-8D54-407E65E2930F}" dt="2026-06-10T20:32:50.155" v="261" actId="403"/>
          <ac:spMkLst>
            <pc:docMk/>
            <pc:sldMk cId="0" sldId="271"/>
            <ac:spMk id="10" creationId="{00000000-0000-0000-0000-000000000000}"/>
          </ac:spMkLst>
        </pc:spChg>
        <pc:spChg chg="mod">
          <ac:chgData name="Edidiong Ekanem" userId="cb5e839971ac2b9c" providerId="LiveId" clId="{ABE0C71D-F6B8-4A47-8D54-407E65E2930F}" dt="2026-06-10T20:32:56.409" v="262" actId="403"/>
          <ac:spMkLst>
            <pc:docMk/>
            <pc:sldMk cId="0" sldId="271"/>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5165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focuses on Hotel Haven, a luxury hotel chain facing challenges with booking cancellations. The goal was to use historical booking data to understand cancellation patterns and build a machine learning model that can predict whether a booking is likely to be canceled or not canceled.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Hotel Haven is framed as a luxury hotel chain with multiple locations and several booking options, including different room types, meal plans, and parking options. The business wants to better understand booking patterns and use that knowledge to reduce cancellations and improve customer retention.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that cancellations affect revenue, room availability, staffing, and resource planning. The existing data can be used to predict which bookings are more likely to be canceled, so the hotel can act earlier and make better operational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rationale for the project is to understand cancellations, identify key factors behind them, and turn those insights into a predictive model. The objective is not only to build a model, but to create insights that can help improve retention, resource allocation, and customer satisfaction.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historical hotel booking records. After cleaning, there were 36,248 records available for analysis. The original target variable was booking status, which was converted to is_canceled for modeling, where 1 represents canceled bookings and 0 represents not canceled bookings.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generally clean, with no missing values or duplicate records. The main issue was 37 invalid reservation dates recorded as February 29, 2018, which is not a valid date. These rows were removed. Additional features were created to support the analysis and modeling.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variable showed that about two-thirds of bookings were not canceled, while about one-third were canceled. Because the dataset is somewhat imbalanced, accuracy alone is not enough. Precision, recall, F1-score, confusion matrix, and ROC-AUC are also important, especially for the canceled class.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clearest patterns in the analysis was lead time. Customers who booked further in advance were much more likely to cancel. This pattern showed up in the EDA, the correlation analysis, and the final model feature importance. Lead time is therefore one of the strongest signals Hotel Haven can use to flag bookings that may need closer monitoring.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segment was another important factor. Online bookings had the highest cancellation rate, while corporate bookings were much more likely to be kept. This suggests that online customers may need more follow-up or retention strategies such as reminder emails, confirmation messages, or targeted incentives closer to the booking date.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Special requests also stood out in the analysis. Customers who made special requests were generally less likely to cancel. One possible explanation is that these customers are more engaged with their booking because they have already thought about specific needs for their stay.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goal was to predict whether a booking would be canceled or not canceled, this was treated as a supervised classification problem. Four models were tested. Because the business goal is to catch likely cancellations, recall and F1-score for the canceled class were especially important, not just overall accuracy.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comparing the models, Random Forest performed best overall. It had the highest accuracy and F1-score, and it also performed strongly on recall for canceled bookings. Decision Tree also performed well, but Random Forest gave a better balance between correctly identifying cancellations and avoiding too many false cancellation predictions.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selected model was Random Forest. It correctly predicted about 90 percent of bookings in the test set. For canceled bookings specifically, it had recall of about 82 percent, meaning it identified most actual cancellations. The ROC-AUC score of 0.954 also shows the model was very strong at separating canceled bookings from not canceled bookings.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importance results helped explain what the Random Forest model relied on most. Lead time was the strongest predictor, which matches the EDA findings. Average price and special requests were also important, along with reservation timing and online market segment. This consistency gives more confidence in the final model.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recommendations focus on turning the analysis into action. Hotel Haven can monitor long lead-time bookings more closely, especially those made more than 180 days in advance. Since online bookings had higher cancellation rates, they may need targeted follow-up. Special requests can also be used as a sign of stronger booking commitment. Finally, the model can support early warning systems so the hotel can plan more proactively.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value of this project is not only that the model predicts cancellations, but that the predictions can support better business decisions. If Hotel Haven can identify high-risk bookings earlier, the team can follow up with customers, plan rooms and staffing more effectively, and improve customer retention strategies. The model should be tested on newer data and, if available, strengthened with customer cancellation reason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301752"/>
          </a:xfrm>
          <a:prstGeom prst="rect">
            <a:avLst/>
          </a:prstGeom>
          <a:solidFill>
            <a:srgbClr val="4A2414"/>
          </a:solidFill>
          <a:ln w="12700">
            <a:solidFill>
              <a:srgbClr val="4A2414"/>
            </a:solidFill>
            <a:prstDash val="solid"/>
          </a:ln>
        </p:spPr>
      </p:sp>
      <p:sp>
        <p:nvSpPr>
          <p:cNvPr id="3" name="Shape 1"/>
          <p:cNvSpPr/>
          <p:nvPr/>
        </p:nvSpPr>
        <p:spPr>
          <a:xfrm>
            <a:off x="0" y="6547104"/>
            <a:ext cx="12191695" cy="310896"/>
          </a:xfrm>
          <a:prstGeom prst="rect">
            <a:avLst/>
          </a:prstGeom>
          <a:solidFill>
            <a:srgbClr val="4A2414"/>
          </a:solidFill>
          <a:ln w="12700">
            <a:solidFill>
              <a:srgbClr val="4A2414"/>
            </a:solidFill>
            <a:prstDash val="solid"/>
          </a:ln>
        </p:spPr>
      </p:sp>
      <p:sp>
        <p:nvSpPr>
          <p:cNvPr id="4" name="Text 2"/>
          <p:cNvSpPr/>
          <p:nvPr/>
        </p:nvSpPr>
        <p:spPr>
          <a:xfrm>
            <a:off x="411480" y="6601968"/>
            <a:ext cx="4572000" cy="182880"/>
          </a:xfrm>
          <a:prstGeom prst="rect">
            <a:avLst/>
          </a:prstGeom>
          <a:noFill/>
          <a:ln/>
        </p:spPr>
        <p:txBody>
          <a:bodyPr wrap="square" lIns="0" tIns="0" rIns="0" bIns="0" rtlCol="0" anchor="ctr"/>
          <a:lstStyle/>
          <a:p>
            <a:pPr marL="0" indent="0">
              <a:buNone/>
            </a:pPr>
            <a:r>
              <a:rPr lang="en-US" sz="750" dirty="0">
                <a:solidFill>
                  <a:srgbClr val="FFFFFF"/>
                </a:solidFill>
                <a:latin typeface="Aptos" pitchFamily="34" charset="0"/>
                <a:ea typeface="Aptos" pitchFamily="34" charset="-122"/>
                <a:cs typeface="Aptos" pitchFamily="34" charset="-120"/>
              </a:rPr>
              <a:t>Hotel Haven ML Capstone</a:t>
            </a:r>
            <a:endParaRPr lang="en-US" sz="750" dirty="0"/>
          </a:p>
        </p:txBody>
      </p:sp>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715"/>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1715"/>
          </a:solidFill>
          <a:ln w="12700">
            <a:solidFill>
              <a:srgbClr val="1D1715"/>
            </a:solidFill>
            <a:prstDash val="solid"/>
          </a:ln>
        </p:spPr>
        <p:txBody>
          <a:bodyPr/>
          <a:lstStyle/>
          <a:p>
            <a:endParaRPr lang="en-US"/>
          </a:p>
        </p:txBody>
      </p:sp>
      <p:sp>
        <p:nvSpPr>
          <p:cNvPr id="3" name="Shape 1"/>
          <p:cNvSpPr/>
          <p:nvPr/>
        </p:nvSpPr>
        <p:spPr>
          <a:xfrm>
            <a:off x="0" y="0"/>
            <a:ext cx="4389120" cy="6858000"/>
          </a:xfrm>
          <a:prstGeom prst="rect">
            <a:avLst/>
          </a:prstGeom>
          <a:solidFill>
            <a:srgbClr val="4A2414">
              <a:alpha val="90000"/>
            </a:srgbClr>
          </a:solidFill>
          <a:ln w="12700">
            <a:solidFill>
              <a:srgbClr val="4A2414"/>
            </a:solidFill>
            <a:prstDash val="solid"/>
          </a:ln>
        </p:spPr>
        <p:txBody>
          <a:bodyPr/>
          <a:lstStyle/>
          <a:p>
            <a:endParaRPr lang="en-US"/>
          </a:p>
        </p:txBody>
      </p:sp>
      <p:sp>
        <p:nvSpPr>
          <p:cNvPr id="4" name="Shape 2"/>
          <p:cNvSpPr/>
          <p:nvPr/>
        </p:nvSpPr>
        <p:spPr>
          <a:xfrm>
            <a:off x="530352" y="1170431"/>
            <a:ext cx="11155680" cy="4337233"/>
          </a:xfrm>
          <a:prstGeom prst="rect">
            <a:avLst/>
          </a:prstGeom>
          <a:solidFill>
            <a:srgbClr val="000000">
              <a:alpha val="30000"/>
            </a:srgbClr>
          </a:solidFill>
          <a:ln w="15240">
            <a:solidFill>
              <a:srgbClr val="D8742A"/>
            </a:solidFill>
            <a:prstDash val="solid"/>
          </a:ln>
        </p:spPr>
        <p:txBody>
          <a:bodyPr/>
          <a:lstStyle/>
          <a:p>
            <a:endParaRPr lang="en-US"/>
          </a:p>
        </p:txBody>
      </p:sp>
      <p:sp>
        <p:nvSpPr>
          <p:cNvPr id="5" name="Text 3"/>
          <p:cNvSpPr/>
          <p:nvPr/>
        </p:nvSpPr>
        <p:spPr>
          <a:xfrm>
            <a:off x="777240" y="1645920"/>
            <a:ext cx="10789920" cy="1417320"/>
          </a:xfrm>
          <a:prstGeom prst="rect">
            <a:avLst/>
          </a:prstGeom>
          <a:noFill/>
          <a:ln/>
        </p:spPr>
        <p:txBody>
          <a:bodyPr wrap="square" lIns="0" tIns="0" rIns="0" bIns="0" rtlCol="0" anchor="ctr"/>
          <a:lstStyle/>
          <a:p>
            <a:pPr marL="0" indent="0">
              <a:buNone/>
            </a:pPr>
            <a:r>
              <a:rPr lang="en-US" sz="3700" b="1" dirty="0">
                <a:solidFill>
                  <a:srgbClr val="FFFFFF"/>
                </a:solidFill>
                <a:latin typeface="Aptos Display" pitchFamily="34" charset="0"/>
                <a:ea typeface="Aptos Display" pitchFamily="34" charset="-122"/>
                <a:cs typeface="Aptos Display" pitchFamily="34" charset="-120"/>
              </a:rPr>
              <a:t>Analyzing Booking Trends</a:t>
            </a:r>
            <a:endParaRPr lang="en-US" sz="3700" dirty="0"/>
          </a:p>
          <a:p>
            <a:pPr marL="0" indent="0">
              <a:buNone/>
            </a:pPr>
            <a:r>
              <a:rPr lang="en-US" sz="3700" b="1" dirty="0">
                <a:solidFill>
                  <a:srgbClr val="FFFFFF"/>
                </a:solidFill>
                <a:latin typeface="Aptos Display" pitchFamily="34" charset="0"/>
                <a:ea typeface="Aptos Display" pitchFamily="34" charset="-122"/>
                <a:cs typeface="Aptos Display" pitchFamily="34" charset="-120"/>
              </a:rPr>
              <a:t>in the Hospitality Industry</a:t>
            </a:r>
            <a:endParaRPr lang="en-US" sz="3700" dirty="0"/>
          </a:p>
        </p:txBody>
      </p:sp>
      <p:sp>
        <p:nvSpPr>
          <p:cNvPr id="6" name="Shape 4"/>
          <p:cNvSpPr/>
          <p:nvPr/>
        </p:nvSpPr>
        <p:spPr>
          <a:xfrm>
            <a:off x="777240" y="3273552"/>
            <a:ext cx="7498080" cy="0"/>
          </a:xfrm>
          <a:prstGeom prst="line">
            <a:avLst/>
          </a:prstGeom>
          <a:noFill/>
          <a:ln w="38100">
            <a:solidFill>
              <a:srgbClr val="D8742A"/>
            </a:solidFill>
            <a:prstDash val="solid"/>
          </a:ln>
        </p:spPr>
        <p:txBody>
          <a:bodyPr/>
          <a:lstStyle/>
          <a:p>
            <a:endParaRPr lang="en-US"/>
          </a:p>
        </p:txBody>
      </p:sp>
      <p:sp>
        <p:nvSpPr>
          <p:cNvPr id="7" name="Text 5"/>
          <p:cNvSpPr/>
          <p:nvPr/>
        </p:nvSpPr>
        <p:spPr>
          <a:xfrm>
            <a:off x="822960" y="3529584"/>
            <a:ext cx="9875520" cy="411480"/>
          </a:xfrm>
          <a:prstGeom prst="rect">
            <a:avLst/>
          </a:prstGeom>
          <a:noFill/>
          <a:ln/>
        </p:spPr>
        <p:txBody>
          <a:bodyPr wrap="square" lIns="0" tIns="0" rIns="0" bIns="0" rtlCol="0" anchor="ctr"/>
          <a:lstStyle/>
          <a:p>
            <a:pPr marL="0" indent="0">
              <a:buNone/>
            </a:pPr>
            <a:r>
              <a:rPr lang="en-US" sz="2000" i="1" dirty="0">
                <a:solidFill>
                  <a:srgbClr val="F6C27A"/>
                </a:solidFill>
                <a:latin typeface="Aptos" pitchFamily="34" charset="0"/>
                <a:ea typeface="Aptos" pitchFamily="34" charset="-122"/>
                <a:cs typeface="Aptos" pitchFamily="34" charset="-120"/>
              </a:rPr>
              <a:t>A predictive model to determine hotel booking cancellation status</a:t>
            </a:r>
            <a:endParaRPr lang="en-US" sz="2000" dirty="0"/>
          </a:p>
        </p:txBody>
      </p:sp>
      <p:sp>
        <p:nvSpPr>
          <p:cNvPr id="8" name="Text 6"/>
          <p:cNvSpPr/>
          <p:nvPr/>
        </p:nvSpPr>
        <p:spPr>
          <a:xfrm>
            <a:off x="841248" y="4800600"/>
            <a:ext cx="5486400" cy="548640"/>
          </a:xfrm>
          <a:prstGeom prst="rect">
            <a:avLst/>
          </a:prstGeom>
          <a:noFill/>
          <a:ln/>
        </p:spPr>
        <p:txBody>
          <a:bodyPr wrap="square" lIns="0" tIns="0" rIns="0" bIns="0" rtlCol="0" anchor="ctr"/>
          <a:lstStyle/>
          <a:p>
            <a:pPr marL="0" indent="0">
              <a:buNone/>
            </a:pPr>
            <a:r>
              <a:rPr lang="en-US" sz="1400" dirty="0">
                <a:solidFill>
                  <a:srgbClr val="FFFFFF"/>
                </a:solidFill>
                <a:latin typeface="Aptos" pitchFamily="34" charset="0"/>
                <a:ea typeface="Aptos" pitchFamily="34" charset="-122"/>
                <a:cs typeface="Aptos" pitchFamily="34" charset="-120"/>
              </a:rPr>
              <a:t>Edidiong Ekanem</a:t>
            </a:r>
          </a:p>
          <a:p>
            <a:pPr marL="0" indent="0">
              <a:buNone/>
            </a:pPr>
            <a:endParaRPr lang="en-US" sz="1400" dirty="0"/>
          </a:p>
          <a:p>
            <a:pPr marL="0" indent="0">
              <a:buNone/>
            </a:pPr>
            <a:r>
              <a:rPr lang="en-US" sz="1400" dirty="0">
                <a:solidFill>
                  <a:srgbClr val="FFFFFF"/>
                </a:solidFill>
                <a:latin typeface="Aptos" pitchFamily="34" charset="0"/>
                <a:ea typeface="Aptos" pitchFamily="34" charset="-122"/>
                <a:cs typeface="Aptos" pitchFamily="34" charset="-120"/>
              </a:rPr>
              <a:t>Python Machine Learning</a:t>
            </a:r>
            <a:endParaRPr lang="en-US" sz="1400" dirty="0"/>
          </a:p>
        </p:txBody>
      </p:sp>
      <p:sp>
        <p:nvSpPr>
          <p:cNvPr id="9" name="Text 7"/>
          <p:cNvSpPr/>
          <p:nvPr/>
        </p:nvSpPr>
        <p:spPr>
          <a:xfrm>
            <a:off x="8321040" y="4983480"/>
            <a:ext cx="2560320" cy="274320"/>
          </a:xfrm>
          <a:prstGeom prst="rect">
            <a:avLst/>
          </a:prstGeom>
          <a:noFill/>
          <a:ln/>
        </p:spPr>
        <p:txBody>
          <a:bodyPr wrap="square" lIns="0" tIns="0" rIns="0" bIns="0" rtlCol="0" anchor="ctr"/>
          <a:lstStyle/>
          <a:p>
            <a:pPr marL="0" indent="0" algn="r">
              <a:buNone/>
            </a:pPr>
            <a:r>
              <a:rPr lang="en-US" sz="1800" b="1" dirty="0">
                <a:solidFill>
                  <a:srgbClr val="D8742A"/>
                </a:solidFill>
                <a:latin typeface="Aptos Display" pitchFamily="34" charset="0"/>
                <a:ea typeface="Aptos Display" pitchFamily="34" charset="-122"/>
                <a:cs typeface="Aptos Display" pitchFamily="34" charset="-120"/>
              </a:rPr>
              <a:t>Hotel Haven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Business Introduction</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Context</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48640" y="1234440"/>
            <a:ext cx="4663440" cy="4754880"/>
          </a:xfrm>
          <a:prstGeom prst="roundRect">
            <a:avLst>
              <a:gd name="adj" fmla="val 1569"/>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822960" y="1600200"/>
            <a:ext cx="4023360" cy="320040"/>
          </a:xfrm>
          <a:prstGeom prst="rect">
            <a:avLst/>
          </a:prstGeom>
          <a:noFill/>
          <a:ln/>
        </p:spPr>
        <p:txBody>
          <a:bodyPr wrap="square" rtlCol="0" anchor="ctr"/>
          <a:lstStyle/>
          <a:p>
            <a:pPr marL="0" indent="0" algn="ctr">
              <a:buNone/>
            </a:pPr>
            <a:r>
              <a:rPr lang="en-US" sz="2400" b="1" dirty="0">
                <a:solidFill>
                  <a:srgbClr val="D8742A"/>
                </a:solidFill>
                <a:latin typeface="Aptos Display" pitchFamily="34" charset="0"/>
                <a:ea typeface="Aptos Display" pitchFamily="34" charset="-122"/>
                <a:cs typeface="Aptos Display" pitchFamily="34" charset="-120"/>
              </a:rPr>
              <a:t>Hotel Haven</a:t>
            </a:r>
            <a:endParaRPr lang="en-US" sz="2400" dirty="0"/>
          </a:p>
        </p:txBody>
      </p:sp>
      <p:sp>
        <p:nvSpPr>
          <p:cNvPr id="7" name="Text 5"/>
          <p:cNvSpPr/>
          <p:nvPr/>
        </p:nvSpPr>
        <p:spPr>
          <a:xfrm>
            <a:off x="914400" y="1993392"/>
            <a:ext cx="3840480" cy="274320"/>
          </a:xfrm>
          <a:prstGeom prst="rect">
            <a:avLst/>
          </a:prstGeom>
          <a:noFill/>
          <a:ln/>
        </p:spPr>
        <p:txBody>
          <a:bodyPr wrap="square" lIns="0" tIns="0" rIns="0" bIns="0" rtlCol="0" anchor="ctr"/>
          <a:lstStyle/>
          <a:p>
            <a:pPr marL="0" indent="0" algn="ctr">
              <a:buNone/>
            </a:pPr>
            <a:r>
              <a:rPr lang="en-US" sz="1350" dirty="0">
                <a:solidFill>
                  <a:srgbClr val="1D1715"/>
                </a:solidFill>
              </a:rPr>
              <a:t>Luxury hotel chain with multiple locations</a:t>
            </a:r>
            <a:endParaRPr lang="en-US" sz="1350" dirty="0"/>
          </a:p>
        </p:txBody>
      </p:sp>
      <p:sp>
        <p:nvSpPr>
          <p:cNvPr id="8" name="Shape 6"/>
          <p:cNvSpPr/>
          <p:nvPr/>
        </p:nvSpPr>
        <p:spPr>
          <a:xfrm>
            <a:off x="960120" y="2743200"/>
            <a:ext cx="1691640" cy="566928"/>
          </a:xfrm>
          <a:prstGeom prst="roundRect">
            <a:avLst>
              <a:gd name="adj" fmla="val 12903"/>
            </a:avLst>
          </a:prstGeom>
          <a:solidFill>
            <a:srgbClr val="2F79A6"/>
          </a:solidFill>
          <a:ln w="12700">
            <a:solidFill>
              <a:srgbClr val="2F79A6"/>
            </a:solidFill>
            <a:prstDash val="solid"/>
          </a:ln>
        </p:spPr>
        <p:txBody>
          <a:bodyPr/>
          <a:lstStyle/>
          <a:p>
            <a:endParaRPr lang="en-US"/>
          </a:p>
        </p:txBody>
      </p:sp>
      <p:sp>
        <p:nvSpPr>
          <p:cNvPr id="9" name="Text 7"/>
          <p:cNvSpPr/>
          <p:nvPr/>
        </p:nvSpPr>
        <p:spPr>
          <a:xfrm>
            <a:off x="1097280" y="2880360"/>
            <a:ext cx="1417320" cy="292608"/>
          </a:xfrm>
          <a:prstGeom prst="rect">
            <a:avLst/>
          </a:prstGeom>
          <a:no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Room types</a:t>
            </a:r>
            <a:endParaRPr lang="en-US" sz="1700" dirty="0"/>
          </a:p>
        </p:txBody>
      </p:sp>
      <p:sp>
        <p:nvSpPr>
          <p:cNvPr id="10" name="Shape 8"/>
          <p:cNvSpPr/>
          <p:nvPr/>
        </p:nvSpPr>
        <p:spPr>
          <a:xfrm>
            <a:off x="2971800" y="2743200"/>
            <a:ext cx="1691640" cy="566928"/>
          </a:xfrm>
          <a:prstGeom prst="roundRect">
            <a:avLst>
              <a:gd name="adj" fmla="val 12903"/>
            </a:avLst>
          </a:prstGeom>
          <a:solidFill>
            <a:srgbClr val="D8742A"/>
          </a:solidFill>
          <a:ln w="12700">
            <a:solidFill>
              <a:srgbClr val="D8742A"/>
            </a:solidFill>
            <a:prstDash val="solid"/>
          </a:ln>
        </p:spPr>
        <p:txBody>
          <a:bodyPr/>
          <a:lstStyle/>
          <a:p>
            <a:endParaRPr lang="en-US"/>
          </a:p>
        </p:txBody>
      </p:sp>
      <p:sp>
        <p:nvSpPr>
          <p:cNvPr id="11" name="Text 9"/>
          <p:cNvSpPr/>
          <p:nvPr/>
        </p:nvSpPr>
        <p:spPr>
          <a:xfrm>
            <a:off x="3108960" y="2880360"/>
            <a:ext cx="1417320" cy="292608"/>
          </a:xfrm>
          <a:prstGeom prst="rect">
            <a:avLst/>
          </a:prstGeom>
          <a:no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Meal plans</a:t>
            </a:r>
            <a:endParaRPr lang="en-US" sz="1700" dirty="0"/>
          </a:p>
        </p:txBody>
      </p:sp>
      <p:sp>
        <p:nvSpPr>
          <p:cNvPr id="12" name="Shape 10"/>
          <p:cNvSpPr/>
          <p:nvPr/>
        </p:nvSpPr>
        <p:spPr>
          <a:xfrm>
            <a:off x="960120" y="3703320"/>
            <a:ext cx="1691640" cy="566928"/>
          </a:xfrm>
          <a:prstGeom prst="roundRect">
            <a:avLst>
              <a:gd name="adj" fmla="val 12903"/>
            </a:avLst>
          </a:prstGeom>
          <a:solidFill>
            <a:srgbClr val="2F79A6"/>
          </a:solidFill>
          <a:ln w="12700">
            <a:solidFill>
              <a:srgbClr val="2F79A6"/>
            </a:solidFill>
            <a:prstDash val="solid"/>
          </a:ln>
        </p:spPr>
        <p:txBody>
          <a:bodyPr/>
          <a:lstStyle/>
          <a:p>
            <a:endParaRPr lang="en-US"/>
          </a:p>
        </p:txBody>
      </p:sp>
      <p:sp>
        <p:nvSpPr>
          <p:cNvPr id="13" name="Text 11"/>
          <p:cNvSpPr/>
          <p:nvPr/>
        </p:nvSpPr>
        <p:spPr>
          <a:xfrm>
            <a:off x="1097280" y="3840480"/>
            <a:ext cx="1417320" cy="292608"/>
          </a:xfrm>
          <a:prstGeom prst="rect">
            <a:avLst/>
          </a:prstGeom>
          <a:no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Parking options</a:t>
            </a:r>
            <a:endParaRPr lang="en-US" sz="1700" dirty="0"/>
          </a:p>
        </p:txBody>
      </p:sp>
      <p:sp>
        <p:nvSpPr>
          <p:cNvPr id="14" name="Shape 12"/>
          <p:cNvSpPr/>
          <p:nvPr/>
        </p:nvSpPr>
        <p:spPr>
          <a:xfrm>
            <a:off x="2971800" y="3703320"/>
            <a:ext cx="1691640" cy="566928"/>
          </a:xfrm>
          <a:prstGeom prst="roundRect">
            <a:avLst>
              <a:gd name="adj" fmla="val 12903"/>
            </a:avLst>
          </a:prstGeom>
          <a:solidFill>
            <a:srgbClr val="D8742A"/>
          </a:solidFill>
          <a:ln w="12700">
            <a:solidFill>
              <a:srgbClr val="D8742A"/>
            </a:solidFill>
            <a:prstDash val="solid"/>
          </a:ln>
        </p:spPr>
        <p:txBody>
          <a:bodyPr/>
          <a:lstStyle/>
          <a:p>
            <a:endParaRPr lang="en-US"/>
          </a:p>
        </p:txBody>
      </p:sp>
      <p:sp>
        <p:nvSpPr>
          <p:cNvPr id="15" name="Text 13"/>
          <p:cNvSpPr/>
          <p:nvPr/>
        </p:nvSpPr>
        <p:spPr>
          <a:xfrm>
            <a:off x="3108960" y="3840480"/>
            <a:ext cx="1417320" cy="292608"/>
          </a:xfrm>
          <a:prstGeom prst="rect">
            <a:avLst/>
          </a:prstGeom>
          <a:no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Booking channels</a:t>
            </a:r>
            <a:endParaRPr lang="en-US" sz="1700" dirty="0"/>
          </a:p>
        </p:txBody>
      </p:sp>
      <p:sp>
        <p:nvSpPr>
          <p:cNvPr id="16" name="Shape 14"/>
          <p:cNvSpPr/>
          <p:nvPr/>
        </p:nvSpPr>
        <p:spPr>
          <a:xfrm>
            <a:off x="5577840" y="1234440"/>
            <a:ext cx="6035040" cy="4754880"/>
          </a:xfrm>
          <a:prstGeom prst="roundRect">
            <a:avLst>
              <a:gd name="adj" fmla="val 1538"/>
            </a:avLst>
          </a:prstGeom>
          <a:solidFill>
            <a:srgbClr val="FFFDFB"/>
          </a:solidFill>
          <a:ln w="12700">
            <a:solidFill>
              <a:srgbClr val="E3D8CC"/>
            </a:solidFill>
            <a:prstDash val="solid"/>
          </a:ln>
        </p:spPr>
        <p:txBody>
          <a:bodyPr/>
          <a:lstStyle/>
          <a:p>
            <a:endParaRPr lang="en-US"/>
          </a:p>
        </p:txBody>
      </p:sp>
      <p:sp>
        <p:nvSpPr>
          <p:cNvPr id="17" name="Text 15"/>
          <p:cNvSpPr/>
          <p:nvPr/>
        </p:nvSpPr>
        <p:spPr>
          <a:xfrm>
            <a:off x="5897880" y="1600200"/>
            <a:ext cx="5120640" cy="274320"/>
          </a:xfrm>
          <a:prstGeom prst="rect">
            <a:avLst/>
          </a:prstGeom>
          <a:noFill/>
          <a:ln/>
        </p:spPr>
        <p:txBody>
          <a:bodyPr wrap="square" rtlCol="0" anchor="ctr"/>
          <a:lstStyle/>
          <a:p>
            <a:pPr marL="0" indent="0">
              <a:buNone/>
            </a:pPr>
            <a:r>
              <a:rPr lang="en-US" sz="1800" b="1" dirty="0">
                <a:solidFill>
                  <a:srgbClr val="1D1715"/>
                </a:solidFill>
              </a:rPr>
              <a:t>Business need</a:t>
            </a:r>
            <a:endParaRPr lang="en-US" sz="1800" dirty="0"/>
          </a:p>
        </p:txBody>
      </p:sp>
      <p:sp>
        <p:nvSpPr>
          <p:cNvPr id="18" name="Text 16"/>
          <p:cNvSpPr/>
          <p:nvPr/>
        </p:nvSpPr>
        <p:spPr>
          <a:xfrm>
            <a:off x="5989320" y="2148840"/>
            <a:ext cx="5303520" cy="22860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700" dirty="0">
                <a:solidFill>
                  <a:srgbClr val="1D1715"/>
                </a:solidFill>
                <a:latin typeface="Aptos" pitchFamily="34" charset="0"/>
                <a:ea typeface="Aptos" pitchFamily="34" charset="-122"/>
                <a:cs typeface="Aptos" pitchFamily="34" charset="-120"/>
              </a:rPr>
              <a:t>Better understand booking patterns</a:t>
            </a:r>
            <a:endParaRPr lang="en-US" sz="1700" dirty="0"/>
          </a:p>
          <a:p>
            <a:pPr marL="285750" indent="-285750">
              <a:buFont typeface="Arial" panose="020B0604020202020204" pitchFamily="34" charset="0"/>
              <a:buChar char="•"/>
            </a:pPr>
            <a:r>
              <a:rPr lang="en-US" sz="1700" dirty="0">
                <a:solidFill>
                  <a:srgbClr val="1D1715"/>
                </a:solidFill>
                <a:latin typeface="Aptos" pitchFamily="34" charset="0"/>
                <a:ea typeface="Aptos" pitchFamily="34" charset="-122"/>
                <a:cs typeface="Aptos" pitchFamily="34" charset="-120"/>
              </a:rPr>
              <a:t>Predict customer cancellations earlier</a:t>
            </a:r>
            <a:endParaRPr lang="en-US" sz="1700" dirty="0"/>
          </a:p>
          <a:p>
            <a:pPr marL="285750" indent="-285750">
              <a:buFont typeface="Arial" panose="020B0604020202020204" pitchFamily="34" charset="0"/>
              <a:buChar char="•"/>
            </a:pPr>
            <a:r>
              <a:rPr lang="en-US" sz="1700" dirty="0">
                <a:solidFill>
                  <a:srgbClr val="1D1715"/>
                </a:solidFill>
                <a:latin typeface="Aptos" pitchFamily="34" charset="0"/>
                <a:ea typeface="Aptos" pitchFamily="34" charset="-122"/>
                <a:cs typeface="Aptos" pitchFamily="34" charset="-120"/>
              </a:rPr>
              <a:t>Create strategies to improve retention</a:t>
            </a:r>
            <a:endParaRPr lang="en-US" sz="1700" dirty="0"/>
          </a:p>
          <a:p>
            <a:pPr marL="285750" indent="-285750">
              <a:buFont typeface="Arial" panose="020B0604020202020204" pitchFamily="34" charset="0"/>
              <a:buChar char="•"/>
            </a:pPr>
            <a:r>
              <a:rPr lang="en-US" sz="1700" dirty="0">
                <a:solidFill>
                  <a:srgbClr val="1D1715"/>
                </a:solidFill>
                <a:latin typeface="Aptos" pitchFamily="34" charset="0"/>
                <a:ea typeface="Aptos" pitchFamily="34" charset="-122"/>
                <a:cs typeface="Aptos" pitchFamily="34" charset="-120"/>
              </a:rPr>
              <a:t>Support more effective resource planning</a:t>
            </a:r>
            <a:endParaRPr lang="en-US" sz="1700" dirty="0"/>
          </a:p>
        </p:txBody>
      </p:sp>
      <p:sp>
        <p:nvSpPr>
          <p:cNvPr id="19" name="Text 17"/>
          <p:cNvSpPr/>
          <p:nvPr/>
        </p:nvSpPr>
        <p:spPr>
          <a:xfrm>
            <a:off x="5989320" y="4983480"/>
            <a:ext cx="5212080" cy="594360"/>
          </a:xfrm>
          <a:prstGeom prst="rect">
            <a:avLst/>
          </a:prstGeom>
          <a:noFill/>
          <a:ln/>
        </p:spPr>
        <p:txBody>
          <a:bodyPr wrap="square" lIns="0" tIns="0" rIns="0" bIns="0" rtlCol="0" anchor="ctr">
            <a:normAutofit/>
          </a:bodyPr>
          <a:lstStyle/>
          <a:p>
            <a:pPr marL="0" indent="0">
              <a:buNone/>
            </a:pPr>
            <a:r>
              <a:rPr lang="en-US" sz="1600" b="1" dirty="0">
                <a:solidFill>
                  <a:srgbClr val="1E5C80"/>
                </a:solidFill>
              </a:rPr>
              <a:t>The analysis connects customer booking behavior to operational decisions.</a:t>
            </a:r>
            <a:endParaRPr lang="en-US" sz="1600" dirty="0"/>
          </a:p>
        </p:txBody>
      </p:sp>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Problem Statement</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Why this matters</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80160"/>
            <a:ext cx="5486400" cy="4846320"/>
          </a:xfrm>
          <a:prstGeom prst="roundRect">
            <a:avLst>
              <a:gd name="adj" fmla="val 1509"/>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868680" y="1600200"/>
            <a:ext cx="4754880" cy="320040"/>
          </a:xfrm>
          <a:prstGeom prst="rect">
            <a:avLst/>
          </a:prstGeom>
          <a:noFill/>
          <a:ln/>
        </p:spPr>
        <p:txBody>
          <a:bodyPr wrap="square" rtlCol="0" anchor="ctr"/>
          <a:lstStyle/>
          <a:p>
            <a:pPr marL="0" indent="0">
              <a:buNone/>
            </a:pPr>
            <a:r>
              <a:rPr lang="en-US" sz="1900" b="1" dirty="0">
                <a:solidFill>
                  <a:srgbClr val="1D1715"/>
                </a:solidFill>
              </a:rPr>
              <a:t>Core challenge</a:t>
            </a:r>
            <a:endParaRPr lang="en-US" sz="1900" dirty="0"/>
          </a:p>
        </p:txBody>
      </p:sp>
      <p:sp>
        <p:nvSpPr>
          <p:cNvPr id="7" name="Text 5"/>
          <p:cNvSpPr/>
          <p:nvPr/>
        </p:nvSpPr>
        <p:spPr>
          <a:xfrm>
            <a:off x="914400" y="2103120"/>
            <a:ext cx="4937760" cy="22860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700" dirty="0">
                <a:solidFill>
                  <a:srgbClr val="1D1715"/>
                </a:solidFill>
                <a:latin typeface="Aptos" pitchFamily="34" charset="0"/>
                <a:ea typeface="Aptos" pitchFamily="34" charset="-122"/>
                <a:cs typeface="Aptos" pitchFamily="34" charset="-120"/>
              </a:rPr>
              <a:t>High cancellation rates</a:t>
            </a:r>
            <a:endParaRPr lang="en-US" sz="1700" dirty="0"/>
          </a:p>
          <a:p>
            <a:pPr marL="285750" indent="-285750">
              <a:buFont typeface="Arial" panose="020B0604020202020204" pitchFamily="34" charset="0"/>
              <a:buChar char="•"/>
            </a:pPr>
            <a:r>
              <a:rPr lang="en-US" sz="1700" dirty="0">
                <a:solidFill>
                  <a:srgbClr val="1D1715"/>
                </a:solidFill>
                <a:latin typeface="Aptos" pitchFamily="34" charset="0"/>
                <a:ea typeface="Aptos" pitchFamily="34" charset="-122"/>
                <a:cs typeface="Aptos" pitchFamily="34" charset="-120"/>
              </a:rPr>
              <a:t>Lost revenue from canceled bookings</a:t>
            </a:r>
            <a:endParaRPr lang="en-US" sz="1700" dirty="0"/>
          </a:p>
          <a:p>
            <a:pPr marL="285750" indent="-285750">
              <a:buFont typeface="Arial" panose="020B0604020202020204" pitchFamily="34" charset="0"/>
              <a:buChar char="•"/>
            </a:pPr>
            <a:r>
              <a:rPr lang="en-US" sz="1700" dirty="0">
                <a:solidFill>
                  <a:srgbClr val="1D1715"/>
                </a:solidFill>
                <a:latin typeface="Aptos" pitchFamily="34" charset="0"/>
                <a:ea typeface="Aptos" pitchFamily="34" charset="-122"/>
                <a:cs typeface="Aptos" pitchFamily="34" charset="-120"/>
              </a:rPr>
              <a:t>Inefficient room and staffing plans</a:t>
            </a:r>
            <a:endParaRPr lang="en-US" sz="1700" dirty="0"/>
          </a:p>
          <a:p>
            <a:pPr marL="285750" indent="-285750">
              <a:buFont typeface="Arial" panose="020B0604020202020204" pitchFamily="34" charset="0"/>
              <a:buChar char="•"/>
            </a:pPr>
            <a:r>
              <a:rPr lang="en-US" sz="1700" dirty="0">
                <a:solidFill>
                  <a:srgbClr val="1D1715"/>
                </a:solidFill>
                <a:latin typeface="Aptos" pitchFamily="34" charset="0"/>
                <a:ea typeface="Aptos" pitchFamily="34" charset="-122"/>
                <a:cs typeface="Aptos" pitchFamily="34" charset="-120"/>
              </a:rPr>
              <a:t>Limited insight into why customers cancel</a:t>
            </a:r>
            <a:endParaRPr lang="en-US" sz="1700" dirty="0"/>
          </a:p>
        </p:txBody>
      </p:sp>
      <p:sp>
        <p:nvSpPr>
          <p:cNvPr id="8" name="Shape 6"/>
          <p:cNvSpPr/>
          <p:nvPr/>
        </p:nvSpPr>
        <p:spPr>
          <a:xfrm>
            <a:off x="868680" y="4937760"/>
            <a:ext cx="4892040" cy="777240"/>
          </a:xfrm>
          <a:prstGeom prst="roundRect">
            <a:avLst>
              <a:gd name="adj" fmla="val 9412"/>
            </a:avLst>
          </a:prstGeom>
          <a:solidFill>
            <a:srgbClr val="D8742A"/>
          </a:solidFill>
          <a:ln w="12700">
            <a:solidFill>
              <a:srgbClr val="D8742A"/>
            </a:solidFill>
            <a:prstDash val="solid"/>
          </a:ln>
        </p:spPr>
        <p:txBody>
          <a:bodyPr/>
          <a:lstStyle/>
          <a:p>
            <a:endParaRPr lang="en-US"/>
          </a:p>
        </p:txBody>
      </p:sp>
      <p:sp>
        <p:nvSpPr>
          <p:cNvPr id="9" name="Text 7"/>
          <p:cNvSpPr/>
          <p:nvPr/>
        </p:nvSpPr>
        <p:spPr>
          <a:xfrm>
            <a:off x="1005840" y="5074920"/>
            <a:ext cx="46177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Can booking data help predict cancellation risk?</a:t>
            </a:r>
            <a:endParaRPr lang="en-US" sz="1700" dirty="0"/>
          </a:p>
        </p:txBody>
      </p:sp>
      <p:sp>
        <p:nvSpPr>
          <p:cNvPr id="10" name="Shape 8"/>
          <p:cNvSpPr/>
          <p:nvPr/>
        </p:nvSpPr>
        <p:spPr>
          <a:xfrm>
            <a:off x="6492240" y="1280160"/>
            <a:ext cx="5120640" cy="4846320"/>
          </a:xfrm>
          <a:prstGeom prst="roundRect">
            <a:avLst>
              <a:gd name="adj" fmla="val 1509"/>
            </a:avLst>
          </a:prstGeom>
          <a:solidFill>
            <a:srgbClr val="FFFDFB"/>
          </a:solidFill>
          <a:ln w="12700">
            <a:solidFill>
              <a:srgbClr val="E3D8CC"/>
            </a:solidFill>
            <a:prstDash val="solid"/>
          </a:ln>
        </p:spPr>
        <p:txBody>
          <a:bodyPr/>
          <a:lstStyle/>
          <a:p>
            <a:endParaRPr lang="en-US"/>
          </a:p>
        </p:txBody>
      </p:sp>
      <p:sp>
        <p:nvSpPr>
          <p:cNvPr id="11" name="Text 9"/>
          <p:cNvSpPr/>
          <p:nvPr/>
        </p:nvSpPr>
        <p:spPr>
          <a:xfrm>
            <a:off x="6812280" y="1600200"/>
            <a:ext cx="4389120" cy="320040"/>
          </a:xfrm>
          <a:prstGeom prst="rect">
            <a:avLst/>
          </a:prstGeom>
          <a:noFill/>
          <a:ln/>
        </p:spPr>
        <p:txBody>
          <a:bodyPr wrap="square" rtlCol="0" anchor="ctr"/>
          <a:lstStyle/>
          <a:p>
            <a:pPr marL="0" indent="0">
              <a:buNone/>
            </a:pPr>
            <a:r>
              <a:rPr lang="en-US" sz="1900" b="1" dirty="0">
                <a:solidFill>
                  <a:srgbClr val="1D1715"/>
                </a:solidFill>
              </a:rPr>
              <a:t>Business goal</a:t>
            </a:r>
            <a:endParaRPr lang="en-US" sz="1900" dirty="0"/>
          </a:p>
        </p:txBody>
      </p:sp>
      <p:sp>
        <p:nvSpPr>
          <p:cNvPr id="12" name="Shape 10"/>
          <p:cNvSpPr/>
          <p:nvPr/>
        </p:nvSpPr>
        <p:spPr>
          <a:xfrm>
            <a:off x="6995160" y="2331720"/>
            <a:ext cx="4206240" cy="685800"/>
          </a:xfrm>
          <a:prstGeom prst="rightArrow">
            <a:avLst/>
          </a:prstGeom>
          <a:solidFill>
            <a:srgbClr val="2F79A6"/>
          </a:solidFill>
          <a:ln w="12700">
            <a:solidFill>
              <a:srgbClr val="2F79A6"/>
            </a:solidFill>
            <a:prstDash val="solid"/>
          </a:ln>
        </p:spPr>
        <p:txBody>
          <a:bodyPr/>
          <a:lstStyle/>
          <a:p>
            <a:endParaRPr lang="en-US"/>
          </a:p>
        </p:txBody>
      </p:sp>
      <p:sp>
        <p:nvSpPr>
          <p:cNvPr id="13" name="Text 11"/>
          <p:cNvSpPr/>
          <p:nvPr/>
        </p:nvSpPr>
        <p:spPr>
          <a:xfrm>
            <a:off x="7360920" y="2514600"/>
            <a:ext cx="3291840" cy="228600"/>
          </a:xfrm>
          <a:prstGeom prst="rect">
            <a:avLst/>
          </a:prstGeom>
          <a:noFill/>
          <a:ln/>
        </p:spPr>
        <p:txBody>
          <a:bodyPr wrap="square" lIns="0" tIns="0" rIns="0" bIns="0" rtlCol="0" anchor="ctr"/>
          <a:lstStyle/>
          <a:p>
            <a:pPr marL="0" indent="0" algn="ctr">
              <a:buNone/>
            </a:pPr>
            <a:r>
              <a:rPr lang="en-US" sz="1600" b="1" dirty="0">
                <a:solidFill>
                  <a:srgbClr val="FFFFFF"/>
                </a:solidFill>
              </a:rPr>
              <a:t>Predict cancellations</a:t>
            </a:r>
            <a:endParaRPr lang="en-US" sz="1600" dirty="0"/>
          </a:p>
        </p:txBody>
      </p:sp>
      <p:sp>
        <p:nvSpPr>
          <p:cNvPr id="14" name="Shape 12"/>
          <p:cNvSpPr/>
          <p:nvPr/>
        </p:nvSpPr>
        <p:spPr>
          <a:xfrm>
            <a:off x="6995160" y="3337560"/>
            <a:ext cx="4206240" cy="685800"/>
          </a:xfrm>
          <a:prstGeom prst="rightArrow">
            <a:avLst/>
          </a:prstGeom>
          <a:solidFill>
            <a:srgbClr val="D8742A"/>
          </a:solidFill>
          <a:ln w="12700">
            <a:solidFill>
              <a:srgbClr val="D8742A"/>
            </a:solidFill>
            <a:prstDash val="solid"/>
          </a:ln>
        </p:spPr>
        <p:txBody>
          <a:bodyPr/>
          <a:lstStyle/>
          <a:p>
            <a:endParaRPr lang="en-US"/>
          </a:p>
        </p:txBody>
      </p:sp>
      <p:sp>
        <p:nvSpPr>
          <p:cNvPr id="15" name="Text 13"/>
          <p:cNvSpPr/>
          <p:nvPr/>
        </p:nvSpPr>
        <p:spPr>
          <a:xfrm>
            <a:off x="7360920" y="3520440"/>
            <a:ext cx="3291840" cy="228600"/>
          </a:xfrm>
          <a:prstGeom prst="rect">
            <a:avLst/>
          </a:prstGeom>
          <a:noFill/>
          <a:ln/>
        </p:spPr>
        <p:txBody>
          <a:bodyPr wrap="square" lIns="0" tIns="0" rIns="0" bIns="0" rtlCol="0" anchor="ctr"/>
          <a:lstStyle/>
          <a:p>
            <a:pPr marL="0" indent="0" algn="ctr">
              <a:buNone/>
            </a:pPr>
            <a:r>
              <a:rPr lang="en-US" sz="1600" b="1" dirty="0">
                <a:solidFill>
                  <a:srgbClr val="FFFFFF"/>
                </a:solidFill>
              </a:rPr>
              <a:t>Improve planning</a:t>
            </a:r>
            <a:endParaRPr lang="en-US" sz="1600" dirty="0"/>
          </a:p>
        </p:txBody>
      </p:sp>
      <p:sp>
        <p:nvSpPr>
          <p:cNvPr id="16" name="Shape 14"/>
          <p:cNvSpPr/>
          <p:nvPr/>
        </p:nvSpPr>
        <p:spPr>
          <a:xfrm>
            <a:off x="6995160" y="4343400"/>
            <a:ext cx="4206240" cy="685800"/>
          </a:xfrm>
          <a:prstGeom prst="rightArrow">
            <a:avLst/>
          </a:prstGeom>
          <a:solidFill>
            <a:srgbClr val="1E5C80"/>
          </a:solidFill>
          <a:ln w="12700">
            <a:solidFill>
              <a:srgbClr val="1E5C80"/>
            </a:solidFill>
            <a:prstDash val="solid"/>
          </a:ln>
        </p:spPr>
        <p:txBody>
          <a:bodyPr/>
          <a:lstStyle/>
          <a:p>
            <a:endParaRPr lang="en-US"/>
          </a:p>
        </p:txBody>
      </p:sp>
      <p:sp>
        <p:nvSpPr>
          <p:cNvPr id="17" name="Text 15"/>
          <p:cNvSpPr/>
          <p:nvPr/>
        </p:nvSpPr>
        <p:spPr>
          <a:xfrm>
            <a:off x="7360920" y="4526280"/>
            <a:ext cx="3291840" cy="228600"/>
          </a:xfrm>
          <a:prstGeom prst="rect">
            <a:avLst/>
          </a:prstGeom>
          <a:noFill/>
          <a:ln/>
        </p:spPr>
        <p:txBody>
          <a:bodyPr wrap="square" lIns="0" tIns="0" rIns="0" bIns="0" rtlCol="0" anchor="ctr"/>
          <a:lstStyle/>
          <a:p>
            <a:pPr marL="0" indent="0" algn="ctr">
              <a:buNone/>
            </a:pPr>
            <a:r>
              <a:rPr lang="en-US" sz="1600" b="1" dirty="0">
                <a:solidFill>
                  <a:srgbClr val="FFFFFF"/>
                </a:solidFill>
              </a:rPr>
              <a:t>Support retention</a:t>
            </a:r>
            <a:endParaRPr lang="en-US" sz="1600" dirty="0"/>
          </a:p>
        </p:txBody>
      </p:sp>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Project Rationale and Objective</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Project focus</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48640" y="1234440"/>
            <a:ext cx="11064240" cy="4846320"/>
          </a:xfrm>
          <a:prstGeom prst="roundRect">
            <a:avLst>
              <a:gd name="adj" fmla="val 1509"/>
            </a:avLst>
          </a:prstGeom>
          <a:solidFill>
            <a:srgbClr val="FFFFFF"/>
          </a:solidFill>
          <a:ln w="12700">
            <a:solidFill>
              <a:srgbClr val="E3D8CC"/>
            </a:solidFill>
            <a:prstDash val="solid"/>
          </a:ln>
        </p:spPr>
        <p:txBody>
          <a:bodyPr/>
          <a:lstStyle/>
          <a:p>
            <a:endParaRPr lang="en-US"/>
          </a:p>
        </p:txBody>
      </p:sp>
      <p:sp>
        <p:nvSpPr>
          <p:cNvPr id="6" name="Shape 4"/>
          <p:cNvSpPr/>
          <p:nvPr/>
        </p:nvSpPr>
        <p:spPr>
          <a:xfrm>
            <a:off x="868680" y="1828800"/>
            <a:ext cx="2331720" cy="3474720"/>
          </a:xfrm>
          <a:prstGeom prst="roundRect">
            <a:avLst>
              <a:gd name="adj" fmla="val 2353"/>
            </a:avLst>
          </a:prstGeom>
          <a:solidFill>
            <a:srgbClr val="F7FBFE"/>
          </a:solidFill>
          <a:ln w="12700">
            <a:solidFill>
              <a:srgbClr val="CFE5F4"/>
            </a:solidFill>
            <a:prstDash val="solid"/>
          </a:ln>
        </p:spPr>
        <p:txBody>
          <a:bodyPr/>
          <a:lstStyle/>
          <a:p>
            <a:endParaRPr lang="en-US"/>
          </a:p>
        </p:txBody>
      </p:sp>
      <p:sp>
        <p:nvSpPr>
          <p:cNvPr id="7" name="Text 5"/>
          <p:cNvSpPr/>
          <p:nvPr/>
        </p:nvSpPr>
        <p:spPr>
          <a:xfrm>
            <a:off x="1033272" y="1993392"/>
            <a:ext cx="411480" cy="320040"/>
          </a:xfrm>
          <a:prstGeom prst="rect">
            <a:avLst/>
          </a:prstGeom>
          <a:noFill/>
          <a:ln/>
        </p:spPr>
        <p:txBody>
          <a:bodyPr wrap="square" lIns="0" tIns="0" rIns="0" bIns="0" rtlCol="0" anchor="ctr"/>
          <a:lstStyle/>
          <a:p>
            <a:pPr marL="0" indent="0">
              <a:buNone/>
            </a:pPr>
            <a:r>
              <a:rPr lang="en-US" sz="2000" b="1" dirty="0">
                <a:solidFill>
                  <a:srgbClr val="2F79A6"/>
                </a:solidFill>
              </a:rPr>
              <a:t>1</a:t>
            </a:r>
            <a:endParaRPr lang="en-US" sz="2000" dirty="0"/>
          </a:p>
        </p:txBody>
      </p:sp>
      <p:sp>
        <p:nvSpPr>
          <p:cNvPr id="8" name="Text 6"/>
          <p:cNvSpPr/>
          <p:nvPr/>
        </p:nvSpPr>
        <p:spPr>
          <a:xfrm>
            <a:off x="1097280" y="2514600"/>
            <a:ext cx="1920240" cy="502920"/>
          </a:xfrm>
          <a:prstGeom prst="rect">
            <a:avLst/>
          </a:prstGeom>
          <a:noFill/>
          <a:ln/>
        </p:spPr>
        <p:txBody>
          <a:bodyPr wrap="square" lIns="0" tIns="0" rIns="0" bIns="0" rtlCol="0" anchor="ctr">
            <a:normAutofit/>
          </a:bodyPr>
          <a:lstStyle/>
          <a:p>
            <a:pPr marL="0" indent="0">
              <a:buNone/>
            </a:pPr>
            <a:r>
              <a:rPr lang="en-US" sz="1500" b="1" dirty="0">
                <a:solidFill>
                  <a:srgbClr val="1D1715"/>
                </a:solidFill>
              </a:rPr>
              <a:t>Understand cancellations</a:t>
            </a:r>
            <a:endParaRPr lang="en-US" sz="1500" dirty="0"/>
          </a:p>
        </p:txBody>
      </p:sp>
      <p:sp>
        <p:nvSpPr>
          <p:cNvPr id="9" name="Text 7"/>
          <p:cNvSpPr/>
          <p:nvPr/>
        </p:nvSpPr>
        <p:spPr>
          <a:xfrm>
            <a:off x="1097280" y="3291840"/>
            <a:ext cx="1901952" cy="1280160"/>
          </a:xfrm>
          <a:prstGeom prst="rect">
            <a:avLst/>
          </a:prstGeom>
          <a:noFill/>
          <a:ln/>
        </p:spPr>
        <p:txBody>
          <a:bodyPr wrap="square" lIns="0" tIns="0" rIns="0" bIns="0" rtlCol="0" anchor="t">
            <a:normAutofit/>
          </a:bodyPr>
          <a:lstStyle/>
          <a:p>
            <a:pPr marL="0" indent="0">
              <a:buNone/>
            </a:pPr>
            <a:r>
              <a:rPr lang="en-US" sz="1280" dirty="0">
                <a:solidFill>
                  <a:srgbClr val="4B4B4B"/>
                </a:solidFill>
              </a:rPr>
              <a:t>Use booking patterns to uncover cancellation-related behavior.</a:t>
            </a:r>
            <a:endParaRPr lang="en-US" sz="1280" dirty="0"/>
          </a:p>
        </p:txBody>
      </p:sp>
      <p:sp>
        <p:nvSpPr>
          <p:cNvPr id="10" name="Shape 8"/>
          <p:cNvSpPr/>
          <p:nvPr/>
        </p:nvSpPr>
        <p:spPr>
          <a:xfrm>
            <a:off x="3547872" y="1828800"/>
            <a:ext cx="2331720" cy="3474720"/>
          </a:xfrm>
          <a:prstGeom prst="roundRect">
            <a:avLst>
              <a:gd name="adj" fmla="val 2353"/>
            </a:avLst>
          </a:prstGeom>
          <a:solidFill>
            <a:srgbClr val="FFF7EF"/>
          </a:solidFill>
          <a:ln w="12700">
            <a:solidFill>
              <a:srgbClr val="F2D6BA"/>
            </a:solidFill>
            <a:prstDash val="solid"/>
          </a:ln>
        </p:spPr>
        <p:txBody>
          <a:bodyPr/>
          <a:lstStyle/>
          <a:p>
            <a:endParaRPr lang="en-US"/>
          </a:p>
        </p:txBody>
      </p:sp>
      <p:sp>
        <p:nvSpPr>
          <p:cNvPr id="11" name="Text 9"/>
          <p:cNvSpPr/>
          <p:nvPr/>
        </p:nvSpPr>
        <p:spPr>
          <a:xfrm>
            <a:off x="3712464" y="1993392"/>
            <a:ext cx="411480" cy="320040"/>
          </a:xfrm>
          <a:prstGeom prst="rect">
            <a:avLst/>
          </a:prstGeom>
          <a:noFill/>
          <a:ln/>
        </p:spPr>
        <p:txBody>
          <a:bodyPr wrap="square" lIns="0" tIns="0" rIns="0" bIns="0" rtlCol="0" anchor="ctr"/>
          <a:lstStyle/>
          <a:p>
            <a:pPr marL="0" indent="0">
              <a:buNone/>
            </a:pPr>
            <a:r>
              <a:rPr lang="en-US" sz="2000" b="1" dirty="0">
                <a:solidFill>
                  <a:srgbClr val="D8742A"/>
                </a:solidFill>
              </a:rPr>
              <a:t>2</a:t>
            </a:r>
            <a:endParaRPr lang="en-US" sz="2000" dirty="0"/>
          </a:p>
        </p:txBody>
      </p:sp>
      <p:sp>
        <p:nvSpPr>
          <p:cNvPr id="12" name="Text 10"/>
          <p:cNvSpPr/>
          <p:nvPr/>
        </p:nvSpPr>
        <p:spPr>
          <a:xfrm>
            <a:off x="3776472" y="2514600"/>
            <a:ext cx="1920240" cy="502920"/>
          </a:xfrm>
          <a:prstGeom prst="rect">
            <a:avLst/>
          </a:prstGeom>
          <a:noFill/>
          <a:ln/>
        </p:spPr>
        <p:txBody>
          <a:bodyPr wrap="square" lIns="0" tIns="0" rIns="0" bIns="0" rtlCol="0" anchor="ctr">
            <a:normAutofit/>
          </a:bodyPr>
          <a:lstStyle/>
          <a:p>
            <a:pPr marL="0" indent="0">
              <a:buNone/>
            </a:pPr>
            <a:r>
              <a:rPr lang="en-US" sz="1500" b="1" dirty="0">
                <a:solidFill>
                  <a:srgbClr val="1D1715"/>
                </a:solidFill>
              </a:rPr>
              <a:t>Identify key factors</a:t>
            </a:r>
            <a:endParaRPr lang="en-US" sz="1500" dirty="0"/>
          </a:p>
        </p:txBody>
      </p:sp>
      <p:sp>
        <p:nvSpPr>
          <p:cNvPr id="13" name="Text 11"/>
          <p:cNvSpPr/>
          <p:nvPr/>
        </p:nvSpPr>
        <p:spPr>
          <a:xfrm>
            <a:off x="3776472" y="3291840"/>
            <a:ext cx="1901952" cy="1280160"/>
          </a:xfrm>
          <a:prstGeom prst="rect">
            <a:avLst/>
          </a:prstGeom>
          <a:noFill/>
          <a:ln/>
        </p:spPr>
        <p:txBody>
          <a:bodyPr wrap="square" lIns="0" tIns="0" rIns="0" bIns="0" rtlCol="0" anchor="t">
            <a:normAutofit/>
          </a:bodyPr>
          <a:lstStyle/>
          <a:p>
            <a:pPr marL="0" indent="0">
              <a:buNone/>
            </a:pPr>
            <a:r>
              <a:rPr lang="en-US" sz="1280" dirty="0">
                <a:solidFill>
                  <a:srgbClr val="4B4B4B"/>
                </a:solidFill>
              </a:rPr>
              <a:t>Examine lead time, room type, market segment, price, and requests.</a:t>
            </a:r>
            <a:endParaRPr lang="en-US" sz="1280" dirty="0"/>
          </a:p>
        </p:txBody>
      </p:sp>
      <p:sp>
        <p:nvSpPr>
          <p:cNvPr id="14" name="Shape 12"/>
          <p:cNvSpPr/>
          <p:nvPr/>
        </p:nvSpPr>
        <p:spPr>
          <a:xfrm>
            <a:off x="6227064" y="1828800"/>
            <a:ext cx="2331720" cy="3474720"/>
          </a:xfrm>
          <a:prstGeom prst="roundRect">
            <a:avLst>
              <a:gd name="adj" fmla="val 2353"/>
            </a:avLst>
          </a:prstGeom>
          <a:solidFill>
            <a:srgbClr val="F7FBFE"/>
          </a:solidFill>
          <a:ln w="12700">
            <a:solidFill>
              <a:srgbClr val="CFE5F4"/>
            </a:solidFill>
            <a:prstDash val="solid"/>
          </a:ln>
        </p:spPr>
        <p:txBody>
          <a:bodyPr/>
          <a:lstStyle/>
          <a:p>
            <a:endParaRPr lang="en-US"/>
          </a:p>
        </p:txBody>
      </p:sp>
      <p:sp>
        <p:nvSpPr>
          <p:cNvPr id="15" name="Text 13"/>
          <p:cNvSpPr/>
          <p:nvPr/>
        </p:nvSpPr>
        <p:spPr>
          <a:xfrm>
            <a:off x="6391656" y="1993392"/>
            <a:ext cx="411480" cy="320040"/>
          </a:xfrm>
          <a:prstGeom prst="rect">
            <a:avLst/>
          </a:prstGeom>
          <a:noFill/>
          <a:ln/>
        </p:spPr>
        <p:txBody>
          <a:bodyPr wrap="square" lIns="0" tIns="0" rIns="0" bIns="0" rtlCol="0" anchor="ctr"/>
          <a:lstStyle/>
          <a:p>
            <a:pPr marL="0" indent="0">
              <a:buNone/>
            </a:pPr>
            <a:r>
              <a:rPr lang="en-US" sz="2000" b="1" dirty="0">
                <a:solidFill>
                  <a:srgbClr val="2F79A6"/>
                </a:solidFill>
              </a:rPr>
              <a:t>3</a:t>
            </a:r>
            <a:endParaRPr lang="en-US" sz="2000" dirty="0"/>
          </a:p>
        </p:txBody>
      </p:sp>
      <p:sp>
        <p:nvSpPr>
          <p:cNvPr id="16" name="Text 14"/>
          <p:cNvSpPr/>
          <p:nvPr/>
        </p:nvSpPr>
        <p:spPr>
          <a:xfrm>
            <a:off x="6455664" y="2514600"/>
            <a:ext cx="1920240" cy="502920"/>
          </a:xfrm>
          <a:prstGeom prst="rect">
            <a:avLst/>
          </a:prstGeom>
          <a:noFill/>
          <a:ln/>
        </p:spPr>
        <p:txBody>
          <a:bodyPr wrap="square" lIns="0" tIns="0" rIns="0" bIns="0" rtlCol="0" anchor="ctr">
            <a:normAutofit/>
          </a:bodyPr>
          <a:lstStyle/>
          <a:p>
            <a:pPr marL="0" indent="0">
              <a:buNone/>
            </a:pPr>
            <a:r>
              <a:rPr lang="en-US" sz="1500" b="1" dirty="0">
                <a:solidFill>
                  <a:srgbClr val="1D1715"/>
                </a:solidFill>
              </a:rPr>
              <a:t>Build prediction model</a:t>
            </a:r>
            <a:endParaRPr lang="en-US" sz="1500" dirty="0"/>
          </a:p>
        </p:txBody>
      </p:sp>
      <p:sp>
        <p:nvSpPr>
          <p:cNvPr id="17" name="Text 15"/>
          <p:cNvSpPr/>
          <p:nvPr/>
        </p:nvSpPr>
        <p:spPr>
          <a:xfrm>
            <a:off x="6455664" y="3291840"/>
            <a:ext cx="1901952" cy="1280160"/>
          </a:xfrm>
          <a:prstGeom prst="rect">
            <a:avLst/>
          </a:prstGeom>
          <a:noFill/>
          <a:ln/>
        </p:spPr>
        <p:txBody>
          <a:bodyPr wrap="square" lIns="0" tIns="0" rIns="0" bIns="0" rtlCol="0" anchor="t">
            <a:normAutofit/>
          </a:bodyPr>
          <a:lstStyle/>
          <a:p>
            <a:pPr marL="0" indent="0">
              <a:buNone/>
            </a:pPr>
            <a:r>
              <a:rPr lang="en-US" sz="1280" dirty="0">
                <a:solidFill>
                  <a:srgbClr val="4B4B4B"/>
                </a:solidFill>
              </a:rPr>
              <a:t>Train a supervised ML model to predict cancellation status.</a:t>
            </a:r>
            <a:endParaRPr lang="en-US" sz="1280" dirty="0"/>
          </a:p>
        </p:txBody>
      </p:sp>
      <p:sp>
        <p:nvSpPr>
          <p:cNvPr id="18" name="Shape 16"/>
          <p:cNvSpPr/>
          <p:nvPr/>
        </p:nvSpPr>
        <p:spPr>
          <a:xfrm>
            <a:off x="8906256" y="1828800"/>
            <a:ext cx="2331720" cy="3474720"/>
          </a:xfrm>
          <a:prstGeom prst="roundRect">
            <a:avLst>
              <a:gd name="adj" fmla="val 2353"/>
            </a:avLst>
          </a:prstGeom>
          <a:solidFill>
            <a:srgbClr val="FFF7EF"/>
          </a:solidFill>
          <a:ln w="12700">
            <a:solidFill>
              <a:srgbClr val="F2D6BA"/>
            </a:solidFill>
            <a:prstDash val="solid"/>
          </a:ln>
        </p:spPr>
        <p:txBody>
          <a:bodyPr/>
          <a:lstStyle/>
          <a:p>
            <a:endParaRPr lang="en-US"/>
          </a:p>
        </p:txBody>
      </p:sp>
      <p:sp>
        <p:nvSpPr>
          <p:cNvPr id="19" name="Text 17"/>
          <p:cNvSpPr/>
          <p:nvPr/>
        </p:nvSpPr>
        <p:spPr>
          <a:xfrm>
            <a:off x="9070848" y="1993392"/>
            <a:ext cx="411480" cy="320040"/>
          </a:xfrm>
          <a:prstGeom prst="rect">
            <a:avLst/>
          </a:prstGeom>
          <a:noFill/>
          <a:ln/>
        </p:spPr>
        <p:txBody>
          <a:bodyPr wrap="square" lIns="0" tIns="0" rIns="0" bIns="0" rtlCol="0" anchor="ctr"/>
          <a:lstStyle/>
          <a:p>
            <a:pPr marL="0" indent="0">
              <a:buNone/>
            </a:pPr>
            <a:r>
              <a:rPr lang="en-US" sz="2000" b="1" dirty="0">
                <a:solidFill>
                  <a:srgbClr val="D8742A"/>
                </a:solidFill>
              </a:rPr>
              <a:t>4</a:t>
            </a:r>
            <a:endParaRPr lang="en-US" sz="2000" dirty="0"/>
          </a:p>
        </p:txBody>
      </p:sp>
      <p:sp>
        <p:nvSpPr>
          <p:cNvPr id="20" name="Text 18"/>
          <p:cNvSpPr/>
          <p:nvPr/>
        </p:nvSpPr>
        <p:spPr>
          <a:xfrm>
            <a:off x="9134856" y="2514600"/>
            <a:ext cx="1920240" cy="502920"/>
          </a:xfrm>
          <a:prstGeom prst="rect">
            <a:avLst/>
          </a:prstGeom>
          <a:noFill/>
          <a:ln/>
        </p:spPr>
        <p:txBody>
          <a:bodyPr wrap="square" lIns="0" tIns="0" rIns="0" bIns="0" rtlCol="0" anchor="ctr">
            <a:normAutofit/>
          </a:bodyPr>
          <a:lstStyle/>
          <a:p>
            <a:pPr marL="0" indent="0">
              <a:buNone/>
            </a:pPr>
            <a:r>
              <a:rPr lang="en-US" sz="1500" b="1" dirty="0">
                <a:solidFill>
                  <a:srgbClr val="1D1715"/>
                </a:solidFill>
              </a:rPr>
              <a:t>Support business action</a:t>
            </a:r>
            <a:endParaRPr lang="en-US" sz="1500" dirty="0"/>
          </a:p>
        </p:txBody>
      </p:sp>
      <p:sp>
        <p:nvSpPr>
          <p:cNvPr id="21" name="Text 19"/>
          <p:cNvSpPr/>
          <p:nvPr/>
        </p:nvSpPr>
        <p:spPr>
          <a:xfrm>
            <a:off x="9134856" y="3291840"/>
            <a:ext cx="1901952" cy="1280160"/>
          </a:xfrm>
          <a:prstGeom prst="rect">
            <a:avLst/>
          </a:prstGeom>
          <a:noFill/>
          <a:ln/>
        </p:spPr>
        <p:txBody>
          <a:bodyPr wrap="square" lIns="0" tIns="0" rIns="0" bIns="0" rtlCol="0" anchor="t">
            <a:normAutofit/>
          </a:bodyPr>
          <a:lstStyle/>
          <a:p>
            <a:pPr marL="0" indent="0">
              <a:buNone/>
            </a:pPr>
            <a:r>
              <a:rPr lang="en-US" sz="1280" dirty="0">
                <a:solidFill>
                  <a:srgbClr val="4B4B4B"/>
                </a:solidFill>
              </a:rPr>
              <a:t>Translate findings into retention and planning recommendations.</a:t>
            </a:r>
            <a:endParaRPr lang="en-US" sz="1280" dirty="0"/>
          </a:p>
        </p:txBody>
      </p:sp>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Dataset Overview</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Data</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685800" y="1234440"/>
            <a:ext cx="2331720" cy="1143000"/>
          </a:xfrm>
          <a:prstGeom prst="roundRect">
            <a:avLst>
              <a:gd name="adj" fmla="val 6400"/>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685800" y="1435608"/>
            <a:ext cx="2331720" cy="320040"/>
          </a:xfrm>
          <a:prstGeom prst="rect">
            <a:avLst/>
          </a:prstGeom>
          <a:noFill/>
          <a:ln/>
        </p:spPr>
        <p:txBody>
          <a:bodyPr wrap="square" rtlCol="0" anchor="ctr"/>
          <a:lstStyle/>
          <a:p>
            <a:pPr marL="0" indent="0" algn="ctr">
              <a:buNone/>
            </a:pPr>
            <a:r>
              <a:rPr lang="en-US" sz="2200" b="1" dirty="0">
                <a:solidFill>
                  <a:srgbClr val="1E5C80"/>
                </a:solidFill>
                <a:latin typeface="Aptos Display" pitchFamily="34" charset="0"/>
                <a:ea typeface="Aptos Display" pitchFamily="34" charset="-122"/>
                <a:cs typeface="Aptos Display" pitchFamily="34" charset="-120"/>
              </a:rPr>
              <a:t>36,248</a:t>
            </a:r>
            <a:endParaRPr lang="en-US" sz="2200" dirty="0"/>
          </a:p>
        </p:txBody>
      </p:sp>
      <p:sp>
        <p:nvSpPr>
          <p:cNvPr id="7" name="Text 5"/>
          <p:cNvSpPr/>
          <p:nvPr/>
        </p:nvSpPr>
        <p:spPr>
          <a:xfrm>
            <a:off x="777240" y="1892808"/>
            <a:ext cx="2148840" cy="320040"/>
          </a:xfrm>
          <a:prstGeom prst="rect">
            <a:avLst/>
          </a:prstGeom>
          <a:noFill/>
          <a:ln/>
        </p:spPr>
        <p:txBody>
          <a:bodyPr wrap="square" lIns="0" tIns="0" rIns="0" bIns="0" rtlCol="0" anchor="ctr"/>
          <a:lstStyle/>
          <a:p>
            <a:pPr marL="0" indent="0" algn="ctr">
              <a:buNone/>
            </a:pPr>
            <a:r>
              <a:rPr lang="en-US" sz="1050" dirty="0">
                <a:solidFill>
                  <a:srgbClr val="1D1715"/>
                </a:solidFill>
                <a:latin typeface="Aptos" pitchFamily="34" charset="0"/>
                <a:ea typeface="Aptos" pitchFamily="34" charset="-122"/>
                <a:cs typeface="Aptos" pitchFamily="34" charset="-120"/>
              </a:rPr>
              <a:t>Cleaned booking records</a:t>
            </a:r>
            <a:endParaRPr lang="en-US" sz="1050" dirty="0"/>
          </a:p>
        </p:txBody>
      </p:sp>
      <p:sp>
        <p:nvSpPr>
          <p:cNvPr id="8" name="Shape 6"/>
          <p:cNvSpPr/>
          <p:nvPr/>
        </p:nvSpPr>
        <p:spPr>
          <a:xfrm>
            <a:off x="3246120" y="1234440"/>
            <a:ext cx="2331720" cy="1143000"/>
          </a:xfrm>
          <a:prstGeom prst="roundRect">
            <a:avLst>
              <a:gd name="adj" fmla="val 6400"/>
            </a:avLst>
          </a:prstGeom>
          <a:solidFill>
            <a:srgbClr val="FFFFFF"/>
          </a:solidFill>
          <a:ln w="12700">
            <a:solidFill>
              <a:srgbClr val="E3D8CC"/>
            </a:solidFill>
            <a:prstDash val="solid"/>
          </a:ln>
        </p:spPr>
        <p:txBody>
          <a:bodyPr/>
          <a:lstStyle/>
          <a:p>
            <a:endParaRPr lang="en-US"/>
          </a:p>
        </p:txBody>
      </p:sp>
      <p:sp>
        <p:nvSpPr>
          <p:cNvPr id="9" name="Text 7"/>
          <p:cNvSpPr/>
          <p:nvPr/>
        </p:nvSpPr>
        <p:spPr>
          <a:xfrm>
            <a:off x="3246120" y="1435608"/>
            <a:ext cx="2331720" cy="320040"/>
          </a:xfrm>
          <a:prstGeom prst="rect">
            <a:avLst/>
          </a:prstGeom>
          <a:noFill/>
          <a:ln/>
        </p:spPr>
        <p:txBody>
          <a:bodyPr wrap="square" rtlCol="0" anchor="ctr"/>
          <a:lstStyle/>
          <a:p>
            <a:pPr marL="0" indent="0" algn="ctr">
              <a:buNone/>
            </a:pPr>
            <a:r>
              <a:rPr lang="en-US" sz="2200" b="1" dirty="0">
                <a:solidFill>
                  <a:srgbClr val="D8742A"/>
                </a:solidFill>
                <a:latin typeface="Aptos Display" pitchFamily="34" charset="0"/>
                <a:ea typeface="Aptos Display" pitchFamily="34" charset="-122"/>
                <a:cs typeface="Aptos Display" pitchFamily="34" charset="-120"/>
              </a:rPr>
              <a:t>25</a:t>
            </a:r>
            <a:endParaRPr lang="en-US" sz="2200" dirty="0"/>
          </a:p>
        </p:txBody>
      </p:sp>
      <p:sp>
        <p:nvSpPr>
          <p:cNvPr id="10" name="Text 8"/>
          <p:cNvSpPr/>
          <p:nvPr/>
        </p:nvSpPr>
        <p:spPr>
          <a:xfrm>
            <a:off x="3337560" y="1892808"/>
            <a:ext cx="2148840" cy="320040"/>
          </a:xfrm>
          <a:prstGeom prst="rect">
            <a:avLst/>
          </a:prstGeom>
          <a:noFill/>
          <a:ln/>
        </p:spPr>
        <p:txBody>
          <a:bodyPr wrap="square" lIns="0" tIns="0" rIns="0" bIns="0" rtlCol="0" anchor="ctr"/>
          <a:lstStyle/>
          <a:p>
            <a:pPr marL="0" indent="0" algn="ctr">
              <a:buNone/>
            </a:pPr>
            <a:r>
              <a:rPr lang="en-US" sz="1050" dirty="0">
                <a:solidFill>
                  <a:srgbClr val="1D1715"/>
                </a:solidFill>
                <a:latin typeface="Aptos" pitchFamily="34" charset="0"/>
                <a:ea typeface="Aptos" pitchFamily="34" charset="-122"/>
                <a:cs typeface="Aptos" pitchFamily="34" charset="-120"/>
              </a:rPr>
              <a:t>Columns after feature engineering</a:t>
            </a:r>
            <a:endParaRPr lang="en-US" sz="1050" dirty="0"/>
          </a:p>
        </p:txBody>
      </p:sp>
      <p:sp>
        <p:nvSpPr>
          <p:cNvPr id="11" name="Shape 9"/>
          <p:cNvSpPr/>
          <p:nvPr/>
        </p:nvSpPr>
        <p:spPr>
          <a:xfrm>
            <a:off x="5806440" y="1234440"/>
            <a:ext cx="2514600" cy="1143000"/>
          </a:xfrm>
          <a:prstGeom prst="roundRect">
            <a:avLst>
              <a:gd name="adj" fmla="val 6400"/>
            </a:avLst>
          </a:prstGeom>
          <a:solidFill>
            <a:srgbClr val="FFFFFF"/>
          </a:solidFill>
          <a:ln w="12700">
            <a:solidFill>
              <a:srgbClr val="E3D8CC"/>
            </a:solidFill>
            <a:prstDash val="solid"/>
          </a:ln>
        </p:spPr>
        <p:txBody>
          <a:bodyPr/>
          <a:lstStyle/>
          <a:p>
            <a:endParaRPr lang="en-US"/>
          </a:p>
        </p:txBody>
      </p:sp>
      <p:sp>
        <p:nvSpPr>
          <p:cNvPr id="12" name="Text 10"/>
          <p:cNvSpPr/>
          <p:nvPr/>
        </p:nvSpPr>
        <p:spPr>
          <a:xfrm>
            <a:off x="5806440" y="1435608"/>
            <a:ext cx="2514600" cy="320040"/>
          </a:xfrm>
          <a:prstGeom prst="rect">
            <a:avLst/>
          </a:prstGeom>
          <a:noFill/>
          <a:ln/>
        </p:spPr>
        <p:txBody>
          <a:bodyPr wrap="square" rtlCol="0" anchor="ctr"/>
          <a:lstStyle/>
          <a:p>
            <a:pPr marL="0" indent="0" algn="ctr">
              <a:buNone/>
            </a:pPr>
            <a:r>
              <a:rPr lang="en-US" sz="2200" b="1" dirty="0">
                <a:solidFill>
                  <a:srgbClr val="1E5C80"/>
                </a:solidFill>
                <a:latin typeface="Aptos Display" pitchFamily="34" charset="0"/>
                <a:ea typeface="Aptos Display" pitchFamily="34" charset="-122"/>
                <a:cs typeface="Aptos Display" pitchFamily="34" charset="-120"/>
              </a:rPr>
              <a:t>booking status</a:t>
            </a:r>
            <a:endParaRPr lang="en-US" sz="2200" dirty="0"/>
          </a:p>
        </p:txBody>
      </p:sp>
      <p:sp>
        <p:nvSpPr>
          <p:cNvPr id="13" name="Text 11"/>
          <p:cNvSpPr/>
          <p:nvPr/>
        </p:nvSpPr>
        <p:spPr>
          <a:xfrm>
            <a:off x="5897880" y="1892808"/>
            <a:ext cx="2331720" cy="320040"/>
          </a:xfrm>
          <a:prstGeom prst="rect">
            <a:avLst/>
          </a:prstGeom>
          <a:noFill/>
          <a:ln/>
        </p:spPr>
        <p:txBody>
          <a:bodyPr wrap="square" lIns="0" tIns="0" rIns="0" bIns="0" rtlCol="0" anchor="ctr"/>
          <a:lstStyle/>
          <a:p>
            <a:pPr marL="0" indent="0" algn="ctr">
              <a:buNone/>
            </a:pPr>
            <a:r>
              <a:rPr lang="en-US" sz="1050" dirty="0">
                <a:solidFill>
                  <a:srgbClr val="1D1715"/>
                </a:solidFill>
                <a:latin typeface="Aptos" pitchFamily="34" charset="0"/>
                <a:ea typeface="Aptos" pitchFamily="34" charset="-122"/>
                <a:cs typeface="Aptos" pitchFamily="34" charset="-120"/>
              </a:rPr>
              <a:t>Target variable</a:t>
            </a:r>
            <a:endParaRPr lang="en-US" sz="1050" dirty="0"/>
          </a:p>
        </p:txBody>
      </p:sp>
      <p:sp>
        <p:nvSpPr>
          <p:cNvPr id="14" name="Shape 12"/>
          <p:cNvSpPr/>
          <p:nvPr/>
        </p:nvSpPr>
        <p:spPr>
          <a:xfrm>
            <a:off x="8549640" y="1234440"/>
            <a:ext cx="2514600" cy="1143000"/>
          </a:xfrm>
          <a:prstGeom prst="roundRect">
            <a:avLst>
              <a:gd name="adj" fmla="val 6400"/>
            </a:avLst>
          </a:prstGeom>
          <a:solidFill>
            <a:srgbClr val="FFFFFF"/>
          </a:solidFill>
          <a:ln w="12700">
            <a:solidFill>
              <a:srgbClr val="E3D8CC"/>
            </a:solidFill>
            <a:prstDash val="solid"/>
          </a:ln>
        </p:spPr>
        <p:txBody>
          <a:bodyPr/>
          <a:lstStyle/>
          <a:p>
            <a:endParaRPr lang="en-US"/>
          </a:p>
        </p:txBody>
      </p:sp>
      <p:sp>
        <p:nvSpPr>
          <p:cNvPr id="15" name="Text 13"/>
          <p:cNvSpPr/>
          <p:nvPr/>
        </p:nvSpPr>
        <p:spPr>
          <a:xfrm>
            <a:off x="8549640" y="1435608"/>
            <a:ext cx="2514600" cy="320040"/>
          </a:xfrm>
          <a:prstGeom prst="rect">
            <a:avLst/>
          </a:prstGeom>
          <a:noFill/>
          <a:ln/>
        </p:spPr>
        <p:txBody>
          <a:bodyPr wrap="square" rtlCol="0" anchor="ctr"/>
          <a:lstStyle/>
          <a:p>
            <a:pPr marL="0" indent="0" algn="ctr">
              <a:buNone/>
            </a:pPr>
            <a:r>
              <a:rPr lang="en-US" sz="2200" b="1" dirty="0">
                <a:solidFill>
                  <a:srgbClr val="D8742A"/>
                </a:solidFill>
                <a:latin typeface="Aptos Display" pitchFamily="34" charset="0"/>
                <a:ea typeface="Aptos Display" pitchFamily="34" charset="-122"/>
                <a:cs typeface="Aptos Display" pitchFamily="34" charset="-120"/>
              </a:rPr>
              <a:t>is_canceled</a:t>
            </a:r>
            <a:endParaRPr lang="en-US" sz="2200" dirty="0"/>
          </a:p>
        </p:txBody>
      </p:sp>
      <p:sp>
        <p:nvSpPr>
          <p:cNvPr id="16" name="Text 14"/>
          <p:cNvSpPr/>
          <p:nvPr/>
        </p:nvSpPr>
        <p:spPr>
          <a:xfrm>
            <a:off x="8641080" y="1892808"/>
            <a:ext cx="2331720" cy="320040"/>
          </a:xfrm>
          <a:prstGeom prst="rect">
            <a:avLst/>
          </a:prstGeom>
          <a:noFill/>
          <a:ln/>
        </p:spPr>
        <p:txBody>
          <a:bodyPr wrap="square" lIns="0" tIns="0" rIns="0" bIns="0" rtlCol="0" anchor="ctr"/>
          <a:lstStyle/>
          <a:p>
            <a:pPr marL="0" indent="0" algn="ctr">
              <a:buNone/>
            </a:pPr>
            <a:r>
              <a:rPr lang="en-US" sz="1050" dirty="0">
                <a:solidFill>
                  <a:srgbClr val="1D1715"/>
                </a:solidFill>
                <a:latin typeface="Aptos" pitchFamily="34" charset="0"/>
                <a:ea typeface="Aptos" pitchFamily="34" charset="-122"/>
                <a:cs typeface="Aptos" pitchFamily="34" charset="-120"/>
              </a:rPr>
              <a:t>Model target</a:t>
            </a:r>
            <a:endParaRPr lang="en-US" sz="1050" dirty="0"/>
          </a:p>
        </p:txBody>
      </p:sp>
      <p:sp>
        <p:nvSpPr>
          <p:cNvPr id="17" name="Shape 15"/>
          <p:cNvSpPr/>
          <p:nvPr/>
        </p:nvSpPr>
        <p:spPr>
          <a:xfrm>
            <a:off x="685800" y="2743200"/>
            <a:ext cx="5303520" cy="3108960"/>
          </a:xfrm>
          <a:prstGeom prst="roundRect">
            <a:avLst>
              <a:gd name="adj" fmla="val 2353"/>
            </a:avLst>
          </a:prstGeom>
          <a:solidFill>
            <a:srgbClr val="FFFFFF"/>
          </a:solidFill>
          <a:ln w="12700">
            <a:solidFill>
              <a:srgbClr val="E3D8CC"/>
            </a:solidFill>
            <a:prstDash val="solid"/>
          </a:ln>
        </p:spPr>
        <p:txBody>
          <a:bodyPr/>
          <a:lstStyle/>
          <a:p>
            <a:endParaRPr lang="en-US"/>
          </a:p>
        </p:txBody>
      </p:sp>
      <p:sp>
        <p:nvSpPr>
          <p:cNvPr id="18" name="Text 16"/>
          <p:cNvSpPr/>
          <p:nvPr/>
        </p:nvSpPr>
        <p:spPr>
          <a:xfrm>
            <a:off x="960120" y="3017520"/>
            <a:ext cx="4572000" cy="274320"/>
          </a:xfrm>
          <a:prstGeom prst="rect">
            <a:avLst/>
          </a:prstGeom>
          <a:noFill/>
          <a:ln/>
        </p:spPr>
        <p:txBody>
          <a:bodyPr wrap="square" rtlCol="0" anchor="ctr"/>
          <a:lstStyle/>
          <a:p>
            <a:pPr marL="0" indent="0">
              <a:buNone/>
            </a:pPr>
            <a:r>
              <a:rPr lang="en-US" sz="1800" b="1" dirty="0">
                <a:solidFill>
                  <a:srgbClr val="1D1715"/>
                </a:solidFill>
              </a:rPr>
              <a:t>Key variables</a:t>
            </a:r>
            <a:endParaRPr lang="en-US" sz="1800" dirty="0"/>
          </a:p>
        </p:txBody>
      </p:sp>
      <p:sp>
        <p:nvSpPr>
          <p:cNvPr id="19" name="Text 17"/>
          <p:cNvSpPr/>
          <p:nvPr/>
        </p:nvSpPr>
        <p:spPr>
          <a:xfrm>
            <a:off x="1005840" y="3520440"/>
            <a:ext cx="4434840" cy="18288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500" dirty="0">
                <a:solidFill>
                  <a:srgbClr val="1D1715"/>
                </a:solidFill>
                <a:latin typeface="Aptos" pitchFamily="34" charset="0"/>
                <a:ea typeface="Aptos" pitchFamily="34" charset="-122"/>
                <a:cs typeface="Aptos" pitchFamily="34" charset="-120"/>
              </a:rPr>
              <a:t>lead time</a:t>
            </a:r>
            <a:endParaRPr lang="en-US" sz="1500" dirty="0"/>
          </a:p>
          <a:p>
            <a:pPr marL="285750" indent="-285750">
              <a:buFont typeface="Arial" panose="020B0604020202020204" pitchFamily="34" charset="0"/>
              <a:buChar char="•"/>
            </a:pPr>
            <a:r>
              <a:rPr lang="en-US" sz="1500" dirty="0">
                <a:solidFill>
                  <a:srgbClr val="1D1715"/>
                </a:solidFill>
                <a:latin typeface="Aptos" pitchFamily="34" charset="0"/>
                <a:ea typeface="Aptos" pitchFamily="34" charset="-122"/>
                <a:cs typeface="Aptos" pitchFamily="34" charset="-120"/>
              </a:rPr>
              <a:t>average price</a:t>
            </a:r>
            <a:endParaRPr lang="en-US" sz="1500" dirty="0"/>
          </a:p>
          <a:p>
            <a:pPr marL="285750" indent="-285750">
              <a:buFont typeface="Arial" panose="020B0604020202020204" pitchFamily="34" charset="0"/>
              <a:buChar char="•"/>
            </a:pPr>
            <a:r>
              <a:rPr lang="en-US" sz="1500" dirty="0">
                <a:solidFill>
                  <a:srgbClr val="1D1715"/>
                </a:solidFill>
                <a:latin typeface="Aptos" pitchFamily="34" charset="0"/>
                <a:ea typeface="Aptos" pitchFamily="34" charset="-122"/>
                <a:cs typeface="Aptos" pitchFamily="34" charset="-120"/>
              </a:rPr>
              <a:t>market segment type</a:t>
            </a:r>
            <a:endParaRPr lang="en-US" sz="1500" dirty="0"/>
          </a:p>
          <a:p>
            <a:pPr marL="285750" indent="-285750">
              <a:buFont typeface="Arial" panose="020B0604020202020204" pitchFamily="34" charset="0"/>
              <a:buChar char="•"/>
            </a:pPr>
            <a:r>
              <a:rPr lang="en-US" sz="1500" dirty="0">
                <a:solidFill>
                  <a:srgbClr val="1D1715"/>
                </a:solidFill>
                <a:latin typeface="Aptos" pitchFamily="34" charset="0"/>
                <a:ea typeface="Aptos" pitchFamily="34" charset="-122"/>
                <a:cs typeface="Aptos" pitchFamily="34" charset="-120"/>
              </a:rPr>
              <a:t>room type</a:t>
            </a:r>
            <a:endParaRPr lang="en-US" sz="1500" dirty="0"/>
          </a:p>
          <a:p>
            <a:pPr marL="285750" indent="-285750">
              <a:buFont typeface="Arial" panose="020B0604020202020204" pitchFamily="34" charset="0"/>
              <a:buChar char="•"/>
            </a:pPr>
            <a:r>
              <a:rPr lang="en-US" sz="1500" dirty="0">
                <a:solidFill>
                  <a:srgbClr val="1D1715"/>
                </a:solidFill>
                <a:latin typeface="Aptos" pitchFamily="34" charset="0"/>
                <a:ea typeface="Aptos" pitchFamily="34" charset="-122"/>
                <a:cs typeface="Aptos" pitchFamily="34" charset="-120"/>
              </a:rPr>
              <a:t>special requests</a:t>
            </a:r>
            <a:endParaRPr lang="en-US" sz="1500" dirty="0"/>
          </a:p>
          <a:p>
            <a:pPr marL="285750" indent="-285750">
              <a:buFont typeface="Arial" panose="020B0604020202020204" pitchFamily="34" charset="0"/>
              <a:buChar char="•"/>
            </a:pPr>
            <a:r>
              <a:rPr lang="en-US" sz="1500" dirty="0">
                <a:solidFill>
                  <a:srgbClr val="1D1715"/>
                </a:solidFill>
                <a:latin typeface="Aptos" pitchFamily="34" charset="0"/>
                <a:ea typeface="Aptos" pitchFamily="34" charset="-122"/>
                <a:cs typeface="Aptos" pitchFamily="34" charset="-120"/>
              </a:rPr>
              <a:t>date of reservation</a:t>
            </a:r>
            <a:endParaRPr lang="en-US" sz="1500" dirty="0"/>
          </a:p>
        </p:txBody>
      </p:sp>
      <p:sp>
        <p:nvSpPr>
          <p:cNvPr id="20" name="Shape 18"/>
          <p:cNvSpPr/>
          <p:nvPr/>
        </p:nvSpPr>
        <p:spPr>
          <a:xfrm>
            <a:off x="6400800" y="2743200"/>
            <a:ext cx="4983480" cy="3108960"/>
          </a:xfrm>
          <a:prstGeom prst="roundRect">
            <a:avLst>
              <a:gd name="adj" fmla="val 2353"/>
            </a:avLst>
          </a:prstGeom>
          <a:solidFill>
            <a:srgbClr val="FFFDFB"/>
          </a:solidFill>
          <a:ln w="12700">
            <a:solidFill>
              <a:srgbClr val="E3D8CC"/>
            </a:solidFill>
            <a:prstDash val="solid"/>
          </a:ln>
        </p:spPr>
        <p:txBody>
          <a:bodyPr/>
          <a:lstStyle/>
          <a:p>
            <a:endParaRPr lang="en-US"/>
          </a:p>
        </p:txBody>
      </p:sp>
      <p:sp>
        <p:nvSpPr>
          <p:cNvPr id="21" name="Text 19"/>
          <p:cNvSpPr/>
          <p:nvPr/>
        </p:nvSpPr>
        <p:spPr>
          <a:xfrm>
            <a:off x="6720840" y="3017520"/>
            <a:ext cx="4389120" cy="274320"/>
          </a:xfrm>
          <a:prstGeom prst="rect">
            <a:avLst/>
          </a:prstGeom>
          <a:noFill/>
          <a:ln/>
        </p:spPr>
        <p:txBody>
          <a:bodyPr wrap="square" rtlCol="0" anchor="ctr"/>
          <a:lstStyle/>
          <a:p>
            <a:pPr marL="0" indent="0">
              <a:buNone/>
            </a:pPr>
            <a:r>
              <a:rPr lang="en-US" sz="1800" b="1" dirty="0">
                <a:solidFill>
                  <a:srgbClr val="1D1715"/>
                </a:solidFill>
              </a:rPr>
              <a:t>Target encoding</a:t>
            </a:r>
            <a:endParaRPr lang="en-US" sz="1800" dirty="0"/>
          </a:p>
        </p:txBody>
      </p:sp>
      <p:sp>
        <p:nvSpPr>
          <p:cNvPr id="22" name="Text 20"/>
          <p:cNvSpPr/>
          <p:nvPr/>
        </p:nvSpPr>
        <p:spPr>
          <a:xfrm>
            <a:off x="6903720" y="3749040"/>
            <a:ext cx="4206240" cy="822960"/>
          </a:xfrm>
          <a:prstGeom prst="rect">
            <a:avLst/>
          </a:prstGeom>
          <a:noFill/>
          <a:ln/>
        </p:spPr>
        <p:txBody>
          <a:bodyPr wrap="square" lIns="0" tIns="0" rIns="0" bIns="0" rtlCol="0" anchor="ctr"/>
          <a:lstStyle/>
          <a:p>
            <a:pPr marL="0" indent="0" algn="ctr">
              <a:buNone/>
            </a:pPr>
            <a:r>
              <a:rPr lang="en-US" sz="2400" b="1" dirty="0">
                <a:solidFill>
                  <a:srgbClr val="1E5C80"/>
                </a:solidFill>
              </a:rPr>
              <a:t>0 = Not canceled</a:t>
            </a:r>
            <a:endParaRPr lang="en-US" sz="2400" dirty="0"/>
          </a:p>
          <a:p>
            <a:pPr marL="0" indent="0" algn="ctr">
              <a:buNone/>
            </a:pPr>
            <a:r>
              <a:rPr lang="en-US" sz="2400" b="1" dirty="0">
                <a:solidFill>
                  <a:srgbClr val="1E5C80"/>
                </a:solidFill>
              </a:rPr>
              <a:t>1 = Canceled</a:t>
            </a:r>
            <a:endParaRPr lang="en-US" sz="2400" dirty="0"/>
          </a:p>
        </p:txBody>
      </p:sp>
      <p:sp>
        <p:nvSpPr>
          <p:cNvPr id="23" name="Text 21"/>
          <p:cNvSpPr/>
          <p:nvPr/>
        </p:nvSpPr>
        <p:spPr>
          <a:xfrm>
            <a:off x="6995160" y="4983480"/>
            <a:ext cx="4023360" cy="411480"/>
          </a:xfrm>
          <a:prstGeom prst="rect">
            <a:avLst/>
          </a:prstGeom>
          <a:noFill/>
          <a:ln/>
        </p:spPr>
        <p:txBody>
          <a:bodyPr wrap="square" lIns="0" tIns="0" rIns="0" bIns="0" rtlCol="0" anchor="ctr"/>
          <a:lstStyle/>
          <a:p>
            <a:pPr marL="0" indent="0" algn="ctr">
              <a:buNone/>
            </a:pPr>
            <a:r>
              <a:rPr lang="en-US" sz="1250" dirty="0">
                <a:solidFill>
                  <a:srgbClr val="4B4B4B"/>
                </a:solidFill>
              </a:rPr>
              <a:t>The original target was converted into a numeric classification target for modeling.</a:t>
            </a:r>
            <a:endParaRPr lang="en-US" sz="1250" dirty="0"/>
          </a:p>
        </p:txBody>
      </p:sp>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Data Cleaning and Feature Engineering</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Data preparation</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5212080" cy="4800600"/>
          </a:xfrm>
          <a:prstGeom prst="roundRect">
            <a:avLst>
              <a:gd name="adj" fmla="val 1524"/>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914400" y="1554480"/>
            <a:ext cx="4389120" cy="292608"/>
          </a:xfrm>
          <a:prstGeom prst="rect">
            <a:avLst/>
          </a:prstGeom>
          <a:noFill/>
          <a:ln/>
        </p:spPr>
        <p:txBody>
          <a:bodyPr wrap="square" rtlCol="0" anchor="ctr"/>
          <a:lstStyle/>
          <a:p>
            <a:pPr marL="0" indent="0">
              <a:buNone/>
            </a:pPr>
            <a:r>
              <a:rPr lang="en-US" sz="1800" b="1" dirty="0">
                <a:solidFill>
                  <a:srgbClr val="1D1715"/>
                </a:solidFill>
              </a:rPr>
              <a:t>Data quality checks</a:t>
            </a:r>
            <a:endParaRPr lang="en-US" sz="1800" dirty="0"/>
          </a:p>
        </p:txBody>
      </p:sp>
      <p:sp>
        <p:nvSpPr>
          <p:cNvPr id="7" name="Text 5"/>
          <p:cNvSpPr/>
          <p:nvPr/>
        </p:nvSpPr>
        <p:spPr>
          <a:xfrm>
            <a:off x="960120" y="2057400"/>
            <a:ext cx="4480560" cy="20574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No missing values</a:t>
            </a:r>
            <a:endParaRPr lang="en-US" sz="1550" dirty="0"/>
          </a:p>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No duplicate records</a:t>
            </a:r>
            <a:endParaRPr lang="en-US" sz="1550" dirty="0"/>
          </a:p>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No duplicate Booking_ID values</a:t>
            </a:r>
            <a:endParaRPr lang="en-US" sz="1550" dirty="0"/>
          </a:p>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Removed 37 invalid dates recorded as 2018-2-29</a:t>
            </a:r>
            <a:endParaRPr lang="en-US" sz="1550" dirty="0"/>
          </a:p>
        </p:txBody>
      </p:sp>
      <p:sp>
        <p:nvSpPr>
          <p:cNvPr id="8" name="Shape 6"/>
          <p:cNvSpPr/>
          <p:nvPr/>
        </p:nvSpPr>
        <p:spPr>
          <a:xfrm>
            <a:off x="960120" y="4800600"/>
            <a:ext cx="4480560" cy="594360"/>
          </a:xfrm>
          <a:prstGeom prst="roundRect">
            <a:avLst>
              <a:gd name="adj" fmla="val 12308"/>
            </a:avLst>
          </a:prstGeom>
          <a:solidFill>
            <a:srgbClr val="1E5C80"/>
          </a:solidFill>
          <a:ln w="12700">
            <a:solidFill>
              <a:srgbClr val="1E5C80"/>
            </a:solidFill>
            <a:prstDash val="solid"/>
          </a:ln>
        </p:spPr>
        <p:txBody>
          <a:bodyPr/>
          <a:lstStyle/>
          <a:p>
            <a:endParaRPr lang="en-US"/>
          </a:p>
        </p:txBody>
      </p:sp>
      <p:sp>
        <p:nvSpPr>
          <p:cNvPr id="9" name="Text 7"/>
          <p:cNvSpPr/>
          <p:nvPr/>
        </p:nvSpPr>
        <p:spPr>
          <a:xfrm>
            <a:off x="1097280" y="4937760"/>
            <a:ext cx="4206240" cy="320040"/>
          </a:xfrm>
          <a:prstGeom prst="rect">
            <a:avLst/>
          </a:prstGeom>
          <a:no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Cleaned dataset ready for EDA and modeling</a:t>
            </a:r>
            <a:endParaRPr lang="en-US" sz="1700" dirty="0"/>
          </a:p>
        </p:txBody>
      </p:sp>
      <p:sp>
        <p:nvSpPr>
          <p:cNvPr id="10" name="Shape 8"/>
          <p:cNvSpPr/>
          <p:nvPr/>
        </p:nvSpPr>
        <p:spPr>
          <a:xfrm>
            <a:off x="6172200" y="1234440"/>
            <a:ext cx="5394960" cy="4800600"/>
          </a:xfrm>
          <a:prstGeom prst="roundRect">
            <a:avLst>
              <a:gd name="adj" fmla="val 1524"/>
            </a:avLst>
          </a:prstGeom>
          <a:solidFill>
            <a:srgbClr val="FFFDFB"/>
          </a:solidFill>
          <a:ln w="12700">
            <a:solidFill>
              <a:srgbClr val="E3D8CC"/>
            </a:solidFill>
            <a:prstDash val="solid"/>
          </a:ln>
        </p:spPr>
        <p:txBody>
          <a:bodyPr/>
          <a:lstStyle/>
          <a:p>
            <a:endParaRPr lang="en-US"/>
          </a:p>
        </p:txBody>
      </p:sp>
      <p:sp>
        <p:nvSpPr>
          <p:cNvPr id="11" name="Text 9"/>
          <p:cNvSpPr/>
          <p:nvPr/>
        </p:nvSpPr>
        <p:spPr>
          <a:xfrm>
            <a:off x="6492240" y="1554480"/>
            <a:ext cx="4572000" cy="292608"/>
          </a:xfrm>
          <a:prstGeom prst="rect">
            <a:avLst/>
          </a:prstGeom>
          <a:noFill/>
          <a:ln/>
        </p:spPr>
        <p:txBody>
          <a:bodyPr wrap="square" rtlCol="0" anchor="ctr"/>
          <a:lstStyle/>
          <a:p>
            <a:pPr marL="0" indent="0">
              <a:buNone/>
            </a:pPr>
            <a:r>
              <a:rPr lang="en-US" sz="1800" b="1" dirty="0">
                <a:solidFill>
                  <a:srgbClr val="1D1715"/>
                </a:solidFill>
              </a:rPr>
              <a:t>New features created</a:t>
            </a:r>
            <a:endParaRPr lang="en-US" sz="1800" dirty="0"/>
          </a:p>
        </p:txBody>
      </p:sp>
      <p:sp>
        <p:nvSpPr>
          <p:cNvPr id="12" name="Text 10"/>
          <p:cNvSpPr/>
          <p:nvPr/>
        </p:nvSpPr>
        <p:spPr>
          <a:xfrm>
            <a:off x="6537960" y="2057400"/>
            <a:ext cx="4572000" cy="256032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total_nights</a:t>
            </a:r>
            <a:endParaRPr lang="en-US" sz="1550" dirty="0"/>
          </a:p>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total_guests</a:t>
            </a:r>
            <a:endParaRPr lang="en-US" sz="1550" dirty="0"/>
          </a:p>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has_children</a:t>
            </a:r>
            <a:endParaRPr lang="en-US" sz="1550" dirty="0"/>
          </a:p>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reservation_month</a:t>
            </a:r>
            <a:endParaRPr lang="en-US" sz="1550" dirty="0"/>
          </a:p>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reservation_day_of_week</a:t>
            </a:r>
            <a:endParaRPr lang="en-US" sz="1550" dirty="0"/>
          </a:p>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reservation_quarter</a:t>
            </a:r>
            <a:endParaRPr lang="en-US" sz="1550" dirty="0"/>
          </a:p>
          <a:p>
            <a:pPr marL="285750" indent="-285750">
              <a:buFont typeface="Arial" panose="020B0604020202020204" pitchFamily="34" charset="0"/>
              <a:buChar char="•"/>
            </a:pPr>
            <a:r>
              <a:rPr lang="en-US" sz="1550" dirty="0">
                <a:solidFill>
                  <a:srgbClr val="1D1715"/>
                </a:solidFill>
                <a:latin typeface="Aptos" pitchFamily="34" charset="0"/>
                <a:ea typeface="Aptos" pitchFamily="34" charset="-122"/>
                <a:cs typeface="Aptos" pitchFamily="34" charset="-120"/>
              </a:rPr>
              <a:t>lead_time_group</a:t>
            </a:r>
            <a:endParaRPr lang="en-US" sz="1550" dirty="0"/>
          </a:p>
        </p:txBody>
      </p:sp>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Booking Status Distribution</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Target variable</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3840480" cy="4846320"/>
          </a:xfrm>
          <a:prstGeom prst="roundRect">
            <a:avLst>
              <a:gd name="adj" fmla="val 1905"/>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914400" y="1600200"/>
            <a:ext cx="3200400" cy="457200"/>
          </a:xfrm>
          <a:prstGeom prst="rect">
            <a:avLst/>
          </a:prstGeom>
          <a:noFill/>
          <a:ln/>
        </p:spPr>
        <p:txBody>
          <a:bodyPr wrap="square" rtlCol="0" anchor="ctr">
            <a:normAutofit fontScale="70000" lnSpcReduction="20000"/>
          </a:bodyPr>
          <a:lstStyle/>
          <a:p>
            <a:pPr marL="0" indent="0">
              <a:buNone/>
            </a:pPr>
            <a:r>
              <a:rPr lang="en-US" sz="2000" b="1" dirty="0">
                <a:solidFill>
                  <a:srgbClr val="1D1715"/>
                </a:solidFill>
              </a:rPr>
              <a:t>Most bookings were not canceled</a:t>
            </a:r>
            <a:endParaRPr lang="en-US" sz="2000" dirty="0"/>
          </a:p>
        </p:txBody>
      </p:sp>
      <p:sp>
        <p:nvSpPr>
          <p:cNvPr id="7" name="Text 5"/>
          <p:cNvSpPr/>
          <p:nvPr/>
        </p:nvSpPr>
        <p:spPr>
          <a:xfrm>
            <a:off x="914400" y="2377440"/>
            <a:ext cx="3108960" cy="411480"/>
          </a:xfrm>
          <a:prstGeom prst="rect">
            <a:avLst/>
          </a:prstGeom>
          <a:noFill/>
          <a:ln/>
        </p:spPr>
        <p:txBody>
          <a:bodyPr wrap="square" lIns="0" tIns="0" rIns="0" bIns="0" rtlCol="0" anchor="ctr"/>
          <a:lstStyle/>
          <a:p>
            <a:pPr marL="0" indent="0" algn="ctr">
              <a:buNone/>
            </a:pPr>
            <a:r>
              <a:rPr lang="en-US" sz="3000" b="1" dirty="0">
                <a:solidFill>
                  <a:srgbClr val="1E5C80"/>
                </a:solidFill>
              </a:rPr>
              <a:t>67.2%</a:t>
            </a:r>
            <a:endParaRPr lang="en-US" sz="3000" dirty="0"/>
          </a:p>
        </p:txBody>
      </p:sp>
      <p:sp>
        <p:nvSpPr>
          <p:cNvPr id="8" name="Text 6"/>
          <p:cNvSpPr/>
          <p:nvPr/>
        </p:nvSpPr>
        <p:spPr>
          <a:xfrm>
            <a:off x="914400" y="2807208"/>
            <a:ext cx="3108960" cy="228600"/>
          </a:xfrm>
          <a:prstGeom prst="rect">
            <a:avLst/>
          </a:prstGeom>
          <a:noFill/>
          <a:ln/>
        </p:spPr>
        <p:txBody>
          <a:bodyPr wrap="square" lIns="0" tIns="0" rIns="0" bIns="0" rtlCol="0" anchor="ctr"/>
          <a:lstStyle/>
          <a:p>
            <a:pPr marL="0" indent="0" algn="ctr">
              <a:buNone/>
            </a:pPr>
            <a:r>
              <a:rPr lang="en-US" sz="1300" dirty="0">
                <a:solidFill>
                  <a:srgbClr val="4B4B4B"/>
                </a:solidFill>
              </a:rPr>
              <a:t>Not canceled</a:t>
            </a:r>
            <a:endParaRPr lang="en-US" sz="1300" dirty="0"/>
          </a:p>
        </p:txBody>
      </p:sp>
      <p:sp>
        <p:nvSpPr>
          <p:cNvPr id="9" name="Text 7"/>
          <p:cNvSpPr/>
          <p:nvPr/>
        </p:nvSpPr>
        <p:spPr>
          <a:xfrm>
            <a:off x="914400" y="3474720"/>
            <a:ext cx="3108960" cy="411480"/>
          </a:xfrm>
          <a:prstGeom prst="rect">
            <a:avLst/>
          </a:prstGeom>
          <a:noFill/>
          <a:ln/>
        </p:spPr>
        <p:txBody>
          <a:bodyPr wrap="square" lIns="0" tIns="0" rIns="0" bIns="0" rtlCol="0" anchor="ctr"/>
          <a:lstStyle/>
          <a:p>
            <a:pPr marL="0" indent="0" algn="ctr">
              <a:buNone/>
            </a:pPr>
            <a:r>
              <a:rPr lang="en-US" sz="3000" b="1" dirty="0">
                <a:solidFill>
                  <a:srgbClr val="D8742A"/>
                </a:solidFill>
              </a:rPr>
              <a:t>32.8%</a:t>
            </a:r>
            <a:endParaRPr lang="en-US" sz="3000" dirty="0"/>
          </a:p>
        </p:txBody>
      </p:sp>
      <p:sp>
        <p:nvSpPr>
          <p:cNvPr id="10" name="Text 8"/>
          <p:cNvSpPr/>
          <p:nvPr/>
        </p:nvSpPr>
        <p:spPr>
          <a:xfrm>
            <a:off x="914400" y="3904488"/>
            <a:ext cx="3108960" cy="228600"/>
          </a:xfrm>
          <a:prstGeom prst="rect">
            <a:avLst/>
          </a:prstGeom>
          <a:noFill/>
          <a:ln/>
        </p:spPr>
        <p:txBody>
          <a:bodyPr wrap="square" lIns="0" tIns="0" rIns="0" bIns="0" rtlCol="0" anchor="ctr"/>
          <a:lstStyle/>
          <a:p>
            <a:pPr marL="0" indent="0" algn="ctr">
              <a:buNone/>
            </a:pPr>
            <a:r>
              <a:rPr lang="en-US" sz="1300" dirty="0">
                <a:solidFill>
                  <a:srgbClr val="4B4B4B"/>
                </a:solidFill>
              </a:rPr>
              <a:t>Canceled</a:t>
            </a:r>
            <a:endParaRPr lang="en-US" sz="1300" dirty="0"/>
          </a:p>
        </p:txBody>
      </p:sp>
      <p:sp>
        <p:nvSpPr>
          <p:cNvPr id="11" name="Text 9"/>
          <p:cNvSpPr/>
          <p:nvPr/>
        </p:nvSpPr>
        <p:spPr>
          <a:xfrm>
            <a:off x="960120" y="4892040"/>
            <a:ext cx="3017520" cy="411480"/>
          </a:xfrm>
          <a:prstGeom prst="rect">
            <a:avLst/>
          </a:prstGeom>
          <a:noFill/>
          <a:ln/>
        </p:spPr>
        <p:txBody>
          <a:bodyPr wrap="square" lIns="0" tIns="0" rIns="0" bIns="0" rtlCol="0" anchor="ctr"/>
          <a:lstStyle/>
          <a:p>
            <a:pPr marL="0" indent="0" algn="ctr">
              <a:buNone/>
            </a:pPr>
            <a:r>
              <a:rPr lang="en-US" sz="1400" b="1" dirty="0">
                <a:solidFill>
                  <a:srgbClr val="1D1715"/>
                </a:solidFill>
              </a:rPr>
              <a:t>Some imbalance, but not severe.</a:t>
            </a:r>
            <a:endParaRPr lang="en-US" sz="1400" dirty="0"/>
          </a:p>
        </p:txBody>
      </p:sp>
      <p:pic>
        <p:nvPicPr>
          <p:cNvPr id="12" name="Image 0" descr="/mnt/data/Distribution of Booking Status.jpg"/>
          <p:cNvPicPr>
            <a:picLocks noChangeAspect="1"/>
          </p:cNvPicPr>
          <p:nvPr/>
        </p:nvPicPr>
        <p:blipFill>
          <a:blip r:embed="rId3"/>
          <a:stretch>
            <a:fillRect/>
          </a:stretch>
        </p:blipFill>
        <p:spPr>
          <a:xfrm>
            <a:off x="4679542" y="1325880"/>
            <a:ext cx="6917236" cy="4663440"/>
          </a:xfrm>
          <a:prstGeom prst="rect">
            <a:avLst/>
          </a:prstGeom>
        </p:spPr>
      </p:pic>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Lead Time Was a Major Driver of Cancellations</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Key finding 1</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3794760" cy="4800600"/>
          </a:xfrm>
          <a:prstGeom prst="roundRect">
            <a:avLst>
              <a:gd name="adj" fmla="val 1928"/>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868680" y="1554480"/>
            <a:ext cx="3200400" cy="320040"/>
          </a:xfrm>
          <a:prstGeom prst="rect">
            <a:avLst/>
          </a:prstGeom>
          <a:noFill/>
          <a:ln/>
        </p:spPr>
        <p:txBody>
          <a:bodyPr wrap="square" rtlCol="0" anchor="ctr"/>
          <a:lstStyle/>
          <a:p>
            <a:pPr marL="0" indent="0">
              <a:buNone/>
            </a:pPr>
            <a:r>
              <a:rPr lang="en-US" sz="1800" b="1" dirty="0">
                <a:solidFill>
                  <a:srgbClr val="1D1715"/>
                </a:solidFill>
              </a:rPr>
              <a:t>Key pattern</a:t>
            </a:r>
            <a:endParaRPr lang="en-US" sz="1800" dirty="0"/>
          </a:p>
        </p:txBody>
      </p:sp>
      <p:sp>
        <p:nvSpPr>
          <p:cNvPr id="7" name="Text 5"/>
          <p:cNvSpPr/>
          <p:nvPr/>
        </p:nvSpPr>
        <p:spPr>
          <a:xfrm>
            <a:off x="914400" y="2103120"/>
            <a:ext cx="3063240" cy="22860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520" dirty="0">
                <a:solidFill>
                  <a:srgbClr val="1D1715"/>
                </a:solidFill>
                <a:latin typeface="Aptos" pitchFamily="34" charset="0"/>
                <a:ea typeface="Aptos" pitchFamily="34" charset="-122"/>
                <a:cs typeface="Aptos" pitchFamily="34" charset="-120"/>
              </a:rPr>
              <a:t>Short lead-time bookings had lower cancellation rates</a:t>
            </a:r>
            <a:endParaRPr lang="en-US" sz="1520" dirty="0"/>
          </a:p>
          <a:p>
            <a:pPr marL="285750" indent="-285750">
              <a:buFont typeface="Arial" panose="020B0604020202020204" pitchFamily="34" charset="0"/>
              <a:buChar char="•"/>
            </a:pPr>
            <a:r>
              <a:rPr lang="en-US" sz="1520" dirty="0">
                <a:solidFill>
                  <a:srgbClr val="1D1715"/>
                </a:solidFill>
                <a:latin typeface="Aptos" pitchFamily="34" charset="0"/>
                <a:ea typeface="Aptos" pitchFamily="34" charset="-122"/>
                <a:cs typeface="Aptos" pitchFamily="34" charset="-120"/>
              </a:rPr>
              <a:t>Long lead-time bookings had much higher cancellation rates</a:t>
            </a:r>
            <a:endParaRPr lang="en-US" sz="1520" dirty="0"/>
          </a:p>
          <a:p>
            <a:pPr marL="285750" indent="-285750">
              <a:buFont typeface="Arial" panose="020B0604020202020204" pitchFamily="34" charset="0"/>
              <a:buChar char="•"/>
            </a:pPr>
            <a:r>
              <a:rPr lang="en-US" sz="1520" dirty="0">
                <a:solidFill>
                  <a:srgbClr val="1D1715"/>
                </a:solidFill>
                <a:latin typeface="Aptos" pitchFamily="34" charset="0"/>
                <a:ea typeface="Aptos" pitchFamily="34" charset="-122"/>
                <a:cs typeface="Aptos" pitchFamily="34" charset="-120"/>
              </a:rPr>
              <a:t>Bookings made 181+ days in advance had especially high cancellation risk</a:t>
            </a:r>
            <a:endParaRPr lang="en-US" sz="1520" dirty="0"/>
          </a:p>
        </p:txBody>
      </p:sp>
      <p:sp>
        <p:nvSpPr>
          <p:cNvPr id="8" name="Shape 6"/>
          <p:cNvSpPr/>
          <p:nvPr/>
        </p:nvSpPr>
        <p:spPr>
          <a:xfrm>
            <a:off x="868680" y="4983480"/>
            <a:ext cx="3154680" cy="621792"/>
          </a:xfrm>
          <a:prstGeom prst="roundRect">
            <a:avLst>
              <a:gd name="adj" fmla="val 11765"/>
            </a:avLst>
          </a:prstGeom>
          <a:solidFill>
            <a:srgbClr val="D8742A"/>
          </a:solidFill>
          <a:ln w="12700">
            <a:solidFill>
              <a:srgbClr val="D8742A"/>
            </a:solidFill>
            <a:prstDash val="solid"/>
          </a:ln>
        </p:spPr>
        <p:txBody>
          <a:bodyPr/>
          <a:lstStyle/>
          <a:p>
            <a:endParaRPr lang="en-US"/>
          </a:p>
        </p:txBody>
      </p:sp>
      <p:sp>
        <p:nvSpPr>
          <p:cNvPr id="9" name="Text 7"/>
          <p:cNvSpPr/>
          <p:nvPr/>
        </p:nvSpPr>
        <p:spPr>
          <a:xfrm>
            <a:off x="1005840" y="5120640"/>
            <a:ext cx="2880360" cy="347472"/>
          </a:xfrm>
          <a:prstGeom prst="rect">
            <a:avLst/>
          </a:prstGeom>
          <a:no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Risk increases as lead time increases</a:t>
            </a:r>
            <a:endParaRPr lang="en-US" sz="1700" dirty="0"/>
          </a:p>
        </p:txBody>
      </p:sp>
      <p:pic>
        <p:nvPicPr>
          <p:cNvPr id="10" name="Image 0" descr="/mnt/data/Cancellation Rate by Lead Time Group and Market Segment.jpg"/>
          <p:cNvPicPr>
            <a:picLocks noChangeAspect="1"/>
          </p:cNvPicPr>
          <p:nvPr/>
        </p:nvPicPr>
        <p:blipFill>
          <a:blip r:embed="rId3"/>
          <a:stretch>
            <a:fillRect/>
          </a:stretch>
        </p:blipFill>
        <p:spPr>
          <a:xfrm>
            <a:off x="4572000" y="1473190"/>
            <a:ext cx="7086600" cy="4323100"/>
          </a:xfrm>
          <a:prstGeom prst="rect">
            <a:avLst/>
          </a:prstGeom>
        </p:spPr>
      </p:pic>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Online Bookings Had Higher Cancellation Risk</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Key finding 2</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3749040" cy="4800600"/>
          </a:xfrm>
          <a:prstGeom prst="roundRect">
            <a:avLst>
              <a:gd name="adj" fmla="val 1951"/>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868680" y="1600200"/>
            <a:ext cx="3154680" cy="320040"/>
          </a:xfrm>
          <a:prstGeom prst="rect">
            <a:avLst/>
          </a:prstGeom>
          <a:noFill/>
          <a:ln/>
        </p:spPr>
        <p:txBody>
          <a:bodyPr wrap="square" rtlCol="0" anchor="ctr"/>
          <a:lstStyle/>
          <a:p>
            <a:pPr marL="0" indent="0">
              <a:buNone/>
            </a:pPr>
            <a:r>
              <a:rPr lang="en-US" sz="1800" b="1" dirty="0">
                <a:solidFill>
                  <a:srgbClr val="1D1715"/>
                </a:solidFill>
              </a:rPr>
              <a:t>Market segment mattered</a:t>
            </a:r>
            <a:endParaRPr lang="en-US" sz="1800" dirty="0"/>
          </a:p>
        </p:txBody>
      </p:sp>
      <p:sp>
        <p:nvSpPr>
          <p:cNvPr id="7" name="Text 5"/>
          <p:cNvSpPr/>
          <p:nvPr/>
        </p:nvSpPr>
        <p:spPr>
          <a:xfrm>
            <a:off x="914400" y="2148840"/>
            <a:ext cx="3017520" cy="210312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520" dirty="0">
                <a:solidFill>
                  <a:srgbClr val="1D1715"/>
                </a:solidFill>
                <a:latin typeface="Aptos" pitchFamily="34" charset="0"/>
                <a:ea typeface="Aptos" pitchFamily="34" charset="-122"/>
                <a:cs typeface="Aptos" pitchFamily="34" charset="-120"/>
              </a:rPr>
              <a:t>Online bookings had the highest cancellation rate</a:t>
            </a:r>
            <a:endParaRPr lang="en-US" sz="1520" dirty="0"/>
          </a:p>
          <a:p>
            <a:pPr marL="285750" indent="-285750">
              <a:buFont typeface="Arial" panose="020B0604020202020204" pitchFamily="34" charset="0"/>
              <a:buChar char="•"/>
            </a:pPr>
            <a:r>
              <a:rPr lang="en-US" sz="1520" dirty="0">
                <a:solidFill>
                  <a:srgbClr val="1D1715"/>
                </a:solidFill>
                <a:latin typeface="Aptos" pitchFamily="34" charset="0"/>
                <a:ea typeface="Aptos" pitchFamily="34" charset="-122"/>
                <a:cs typeface="Aptos" pitchFamily="34" charset="-120"/>
              </a:rPr>
              <a:t>Corporate bookings had much lower cancellation rates</a:t>
            </a:r>
            <a:endParaRPr lang="en-US" sz="1520" dirty="0"/>
          </a:p>
          <a:p>
            <a:pPr marL="285750" indent="-285750">
              <a:buFont typeface="Arial" panose="020B0604020202020204" pitchFamily="34" charset="0"/>
              <a:buChar char="•"/>
            </a:pPr>
            <a:r>
              <a:rPr lang="en-US" sz="1520" dirty="0">
                <a:solidFill>
                  <a:srgbClr val="1D1715"/>
                </a:solidFill>
                <a:latin typeface="Aptos" pitchFamily="34" charset="0"/>
                <a:ea typeface="Aptos" pitchFamily="34" charset="-122"/>
                <a:cs typeface="Aptos" pitchFamily="34" charset="-120"/>
              </a:rPr>
              <a:t>Market segment remained important in the model results</a:t>
            </a:r>
            <a:endParaRPr lang="en-US" sz="1520" dirty="0"/>
          </a:p>
        </p:txBody>
      </p:sp>
      <p:sp>
        <p:nvSpPr>
          <p:cNvPr id="8" name="Text 6"/>
          <p:cNvSpPr/>
          <p:nvPr/>
        </p:nvSpPr>
        <p:spPr>
          <a:xfrm>
            <a:off x="914400" y="4800600"/>
            <a:ext cx="2971800" cy="685800"/>
          </a:xfrm>
          <a:prstGeom prst="rect">
            <a:avLst/>
          </a:prstGeom>
          <a:noFill/>
          <a:ln/>
        </p:spPr>
        <p:txBody>
          <a:bodyPr wrap="square" lIns="0" tIns="0" rIns="0" bIns="0" rtlCol="0" anchor="ctr">
            <a:normAutofit/>
          </a:bodyPr>
          <a:lstStyle/>
          <a:p>
            <a:pPr marL="0" indent="0">
              <a:buNone/>
            </a:pPr>
            <a:r>
              <a:rPr lang="en-US" sz="1350" b="1" dirty="0">
                <a:solidFill>
                  <a:srgbClr val="1E5C80"/>
                </a:solidFill>
              </a:rPr>
              <a:t>This suggests online customers may need targeted follow-up and retention strategies.</a:t>
            </a:r>
            <a:endParaRPr lang="en-US" sz="1350" dirty="0"/>
          </a:p>
        </p:txBody>
      </p:sp>
      <p:pic>
        <p:nvPicPr>
          <p:cNvPr id="9" name="Image 0" descr="/mnt/data/Booking Status Percentage by Market Segment.jpg"/>
          <p:cNvPicPr>
            <a:picLocks noChangeAspect="1"/>
          </p:cNvPicPr>
          <p:nvPr/>
        </p:nvPicPr>
        <p:blipFill>
          <a:blip r:embed="rId3"/>
          <a:stretch>
            <a:fillRect/>
          </a:stretch>
        </p:blipFill>
        <p:spPr>
          <a:xfrm>
            <a:off x="4650018" y="1234440"/>
            <a:ext cx="6976285" cy="4800600"/>
          </a:xfrm>
          <a:prstGeom prst="rect">
            <a:avLst/>
          </a:prstGeom>
        </p:spPr>
      </p:pic>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Special Requests Were Linked to Lower Cancellation Risk</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Key finding 3</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3794760" cy="4800600"/>
          </a:xfrm>
          <a:prstGeom prst="roundRect">
            <a:avLst>
              <a:gd name="adj" fmla="val 1928"/>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868680" y="1600200"/>
            <a:ext cx="3154680" cy="320040"/>
          </a:xfrm>
          <a:prstGeom prst="rect">
            <a:avLst/>
          </a:prstGeom>
          <a:noFill/>
          <a:ln/>
        </p:spPr>
        <p:txBody>
          <a:bodyPr wrap="square" rtlCol="0" anchor="ctr">
            <a:normAutofit fontScale="92500" lnSpcReduction="20000"/>
          </a:bodyPr>
          <a:lstStyle/>
          <a:p>
            <a:pPr marL="0" indent="0">
              <a:buNone/>
            </a:pPr>
            <a:r>
              <a:rPr lang="en-US" sz="1800" b="1" dirty="0">
                <a:solidFill>
                  <a:srgbClr val="1D1715"/>
                </a:solidFill>
              </a:rPr>
              <a:t>Customer engagement signal</a:t>
            </a:r>
            <a:endParaRPr lang="en-US" sz="1800" dirty="0"/>
          </a:p>
        </p:txBody>
      </p:sp>
      <p:sp>
        <p:nvSpPr>
          <p:cNvPr id="7" name="Text 5"/>
          <p:cNvSpPr/>
          <p:nvPr/>
        </p:nvSpPr>
        <p:spPr>
          <a:xfrm>
            <a:off x="914400" y="2148840"/>
            <a:ext cx="3017520" cy="192024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520" dirty="0">
                <a:solidFill>
                  <a:srgbClr val="1D1715"/>
                </a:solidFill>
                <a:latin typeface="Aptos" pitchFamily="34" charset="0"/>
                <a:ea typeface="Aptos" pitchFamily="34" charset="-122"/>
                <a:cs typeface="Aptos" pitchFamily="34" charset="-120"/>
              </a:rPr>
              <a:t>Most bookings had no special requests</a:t>
            </a:r>
            <a:endParaRPr lang="en-US" sz="1520" dirty="0"/>
          </a:p>
          <a:p>
            <a:pPr marL="285750" indent="-285750">
              <a:buFont typeface="Arial" panose="020B0604020202020204" pitchFamily="34" charset="0"/>
              <a:buChar char="•"/>
            </a:pPr>
            <a:r>
              <a:rPr lang="en-US" sz="1520" dirty="0">
                <a:solidFill>
                  <a:srgbClr val="1D1715"/>
                </a:solidFill>
                <a:latin typeface="Aptos" pitchFamily="34" charset="0"/>
                <a:ea typeface="Aptos" pitchFamily="34" charset="-122"/>
                <a:cs typeface="Aptos" pitchFamily="34" charset="-120"/>
              </a:rPr>
              <a:t>Not canceled bookings had more requests on average</a:t>
            </a:r>
            <a:endParaRPr lang="en-US" sz="1520" dirty="0"/>
          </a:p>
          <a:p>
            <a:pPr marL="285750" indent="-285750">
              <a:buFont typeface="Arial" panose="020B0604020202020204" pitchFamily="34" charset="0"/>
              <a:buChar char="•"/>
            </a:pPr>
            <a:r>
              <a:rPr lang="en-US" sz="1520" dirty="0">
                <a:solidFill>
                  <a:srgbClr val="1D1715"/>
                </a:solidFill>
                <a:latin typeface="Aptos" pitchFamily="34" charset="0"/>
                <a:ea typeface="Aptos" pitchFamily="34" charset="-122"/>
                <a:cs typeface="Aptos" pitchFamily="34" charset="-120"/>
              </a:rPr>
              <a:t>Requests may signal stronger commitment to the stay</a:t>
            </a:r>
            <a:endParaRPr lang="en-US" sz="1520" dirty="0"/>
          </a:p>
        </p:txBody>
      </p:sp>
      <p:sp>
        <p:nvSpPr>
          <p:cNvPr id="8" name="Shape 6"/>
          <p:cNvSpPr/>
          <p:nvPr/>
        </p:nvSpPr>
        <p:spPr>
          <a:xfrm>
            <a:off x="868680" y="4892040"/>
            <a:ext cx="3154680" cy="685800"/>
          </a:xfrm>
          <a:prstGeom prst="roundRect">
            <a:avLst>
              <a:gd name="adj" fmla="val 10667"/>
            </a:avLst>
          </a:prstGeom>
          <a:solidFill>
            <a:srgbClr val="1E5C80"/>
          </a:solidFill>
          <a:ln w="12700">
            <a:solidFill>
              <a:srgbClr val="1E5C80"/>
            </a:solidFill>
            <a:prstDash val="solid"/>
          </a:ln>
        </p:spPr>
        <p:txBody>
          <a:bodyPr/>
          <a:lstStyle/>
          <a:p>
            <a:endParaRPr lang="en-US"/>
          </a:p>
        </p:txBody>
      </p:sp>
      <p:sp>
        <p:nvSpPr>
          <p:cNvPr id="9" name="Text 7"/>
          <p:cNvSpPr/>
          <p:nvPr/>
        </p:nvSpPr>
        <p:spPr>
          <a:xfrm>
            <a:off x="1005840" y="5029200"/>
            <a:ext cx="288036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More requests = stronger booking commitment</a:t>
            </a:r>
            <a:endParaRPr lang="en-US" sz="1700" dirty="0"/>
          </a:p>
        </p:txBody>
      </p:sp>
      <p:pic>
        <p:nvPicPr>
          <p:cNvPr id="10" name="Image 0" descr="/mnt/data/Cancellation Rate by Special Requests and Lead Time Group.jpg"/>
          <p:cNvPicPr>
            <a:picLocks noChangeAspect="1"/>
          </p:cNvPicPr>
          <p:nvPr/>
        </p:nvPicPr>
        <p:blipFill>
          <a:blip r:embed="rId3"/>
          <a:stretch>
            <a:fillRect/>
          </a:stretch>
        </p:blipFill>
        <p:spPr>
          <a:xfrm>
            <a:off x="4572000" y="1467345"/>
            <a:ext cx="7086600" cy="4334790"/>
          </a:xfrm>
          <a:prstGeom prst="rect">
            <a:avLst/>
          </a:prstGeom>
        </p:spPr>
      </p:pic>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Model Development Approach</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Modeling</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11064240" cy="4800600"/>
          </a:xfrm>
          <a:prstGeom prst="roundRect">
            <a:avLst>
              <a:gd name="adj" fmla="val 1524"/>
            </a:avLst>
          </a:prstGeom>
          <a:solidFill>
            <a:srgbClr val="FFFFFF"/>
          </a:solidFill>
          <a:ln w="12700">
            <a:solidFill>
              <a:srgbClr val="E3D8CC"/>
            </a:solidFill>
            <a:prstDash val="solid"/>
          </a:ln>
        </p:spPr>
        <p:txBody>
          <a:bodyPr/>
          <a:lstStyle/>
          <a:p>
            <a:endParaRPr lang="en-US" dirty="0"/>
          </a:p>
        </p:txBody>
      </p:sp>
      <p:sp>
        <p:nvSpPr>
          <p:cNvPr id="6" name="Text 4"/>
          <p:cNvSpPr/>
          <p:nvPr/>
        </p:nvSpPr>
        <p:spPr>
          <a:xfrm>
            <a:off x="914400" y="1554480"/>
            <a:ext cx="5120640" cy="320040"/>
          </a:xfrm>
          <a:prstGeom prst="rect">
            <a:avLst/>
          </a:prstGeom>
          <a:noFill/>
          <a:ln/>
        </p:spPr>
        <p:txBody>
          <a:bodyPr wrap="square" rtlCol="0" anchor="ctr"/>
          <a:lstStyle/>
          <a:p>
            <a:pPr marL="0" indent="0">
              <a:buNone/>
            </a:pPr>
            <a:r>
              <a:rPr lang="en-US" sz="2000" b="1" dirty="0">
                <a:solidFill>
                  <a:srgbClr val="1D1715"/>
                </a:solidFill>
              </a:rPr>
              <a:t>Supervised classification problem</a:t>
            </a:r>
            <a:endParaRPr lang="en-US" sz="2000" dirty="0"/>
          </a:p>
        </p:txBody>
      </p:sp>
      <p:sp>
        <p:nvSpPr>
          <p:cNvPr id="7" name="Shape 5"/>
          <p:cNvSpPr/>
          <p:nvPr/>
        </p:nvSpPr>
        <p:spPr>
          <a:xfrm>
            <a:off x="914400" y="2293445"/>
            <a:ext cx="2331720" cy="685800"/>
          </a:xfrm>
          <a:prstGeom prst="roundRect">
            <a:avLst>
              <a:gd name="adj" fmla="val 9333"/>
            </a:avLst>
          </a:prstGeom>
          <a:solidFill>
            <a:srgbClr val="2F79A6"/>
          </a:solidFill>
          <a:ln w="12700">
            <a:solidFill>
              <a:srgbClr val="2F79A6"/>
            </a:solidFill>
            <a:prstDash val="solid"/>
          </a:ln>
        </p:spPr>
        <p:txBody>
          <a:bodyPr/>
          <a:lstStyle/>
          <a:p>
            <a:endParaRPr lang="en-US"/>
          </a:p>
        </p:txBody>
      </p:sp>
      <p:sp>
        <p:nvSpPr>
          <p:cNvPr id="8" name="Text 6"/>
          <p:cNvSpPr/>
          <p:nvPr/>
        </p:nvSpPr>
        <p:spPr>
          <a:xfrm>
            <a:off x="1005840" y="2505246"/>
            <a:ext cx="2148840" cy="274320"/>
          </a:xfrm>
          <a:prstGeom prst="rect">
            <a:avLst/>
          </a:prstGeom>
          <a:noFill/>
          <a:ln/>
        </p:spPr>
        <p:txBody>
          <a:bodyPr wrap="square" lIns="0" tIns="0" rIns="0" bIns="0" rtlCol="0" anchor="ctr">
            <a:normAutofit/>
          </a:bodyPr>
          <a:lstStyle/>
          <a:p>
            <a:pPr marL="0" indent="0" algn="ctr">
              <a:buNone/>
            </a:pPr>
            <a:r>
              <a:rPr lang="en-US" sz="1280" b="1" dirty="0">
                <a:solidFill>
                  <a:srgbClr val="FFFFFF"/>
                </a:solidFill>
              </a:rPr>
              <a:t>Logistic Regression</a:t>
            </a:r>
            <a:endParaRPr lang="en-US" sz="1280" dirty="0"/>
          </a:p>
        </p:txBody>
      </p:sp>
      <p:sp>
        <p:nvSpPr>
          <p:cNvPr id="9" name="Shape 7"/>
          <p:cNvSpPr/>
          <p:nvPr/>
        </p:nvSpPr>
        <p:spPr>
          <a:xfrm>
            <a:off x="3566160" y="2304078"/>
            <a:ext cx="2331720" cy="685800"/>
          </a:xfrm>
          <a:prstGeom prst="roundRect">
            <a:avLst>
              <a:gd name="adj" fmla="val 9333"/>
            </a:avLst>
          </a:prstGeom>
          <a:solidFill>
            <a:srgbClr val="2F79A6"/>
          </a:solidFill>
          <a:ln w="12700">
            <a:solidFill>
              <a:srgbClr val="2F79A6"/>
            </a:solidFill>
            <a:prstDash val="solid"/>
          </a:ln>
        </p:spPr>
        <p:txBody>
          <a:bodyPr/>
          <a:lstStyle/>
          <a:p>
            <a:endParaRPr lang="en-US"/>
          </a:p>
        </p:txBody>
      </p:sp>
      <p:sp>
        <p:nvSpPr>
          <p:cNvPr id="10" name="Text 8"/>
          <p:cNvSpPr/>
          <p:nvPr/>
        </p:nvSpPr>
        <p:spPr>
          <a:xfrm>
            <a:off x="3657600" y="2505246"/>
            <a:ext cx="2148840" cy="274320"/>
          </a:xfrm>
          <a:prstGeom prst="rect">
            <a:avLst/>
          </a:prstGeom>
          <a:noFill/>
          <a:ln/>
        </p:spPr>
        <p:txBody>
          <a:bodyPr wrap="square" lIns="0" tIns="0" rIns="0" bIns="0" rtlCol="0" anchor="ctr">
            <a:normAutofit/>
          </a:bodyPr>
          <a:lstStyle/>
          <a:p>
            <a:pPr marL="0" indent="0" algn="ctr">
              <a:buNone/>
            </a:pPr>
            <a:r>
              <a:rPr lang="en-US" sz="1280" b="1" dirty="0">
                <a:solidFill>
                  <a:srgbClr val="FFFFFF"/>
                </a:solidFill>
              </a:rPr>
              <a:t>Decision Tree</a:t>
            </a:r>
            <a:endParaRPr lang="en-US" sz="1280" dirty="0"/>
          </a:p>
        </p:txBody>
      </p:sp>
      <p:sp>
        <p:nvSpPr>
          <p:cNvPr id="11" name="Shape 9"/>
          <p:cNvSpPr/>
          <p:nvPr/>
        </p:nvSpPr>
        <p:spPr>
          <a:xfrm>
            <a:off x="6217920" y="2304078"/>
            <a:ext cx="2331720" cy="685800"/>
          </a:xfrm>
          <a:prstGeom prst="roundRect">
            <a:avLst>
              <a:gd name="adj" fmla="val 9333"/>
            </a:avLst>
          </a:prstGeom>
          <a:solidFill>
            <a:srgbClr val="D8742A"/>
          </a:solidFill>
          <a:ln w="12700">
            <a:solidFill>
              <a:srgbClr val="D8742A"/>
            </a:solidFill>
            <a:prstDash val="solid"/>
          </a:ln>
        </p:spPr>
        <p:txBody>
          <a:bodyPr/>
          <a:lstStyle/>
          <a:p>
            <a:endParaRPr lang="en-US"/>
          </a:p>
        </p:txBody>
      </p:sp>
      <p:sp>
        <p:nvSpPr>
          <p:cNvPr id="12" name="Text 10"/>
          <p:cNvSpPr/>
          <p:nvPr/>
        </p:nvSpPr>
        <p:spPr>
          <a:xfrm>
            <a:off x="6309360" y="2505246"/>
            <a:ext cx="2148840" cy="274320"/>
          </a:xfrm>
          <a:prstGeom prst="rect">
            <a:avLst/>
          </a:prstGeom>
          <a:noFill/>
          <a:ln/>
        </p:spPr>
        <p:txBody>
          <a:bodyPr wrap="square" lIns="0" tIns="0" rIns="0" bIns="0" rtlCol="0" anchor="ctr">
            <a:normAutofit/>
          </a:bodyPr>
          <a:lstStyle/>
          <a:p>
            <a:pPr marL="0" indent="0" algn="ctr">
              <a:buNone/>
            </a:pPr>
            <a:r>
              <a:rPr lang="en-US" sz="1280" b="1" dirty="0">
                <a:solidFill>
                  <a:srgbClr val="FFFFFF"/>
                </a:solidFill>
              </a:rPr>
              <a:t>Random Forest</a:t>
            </a:r>
            <a:endParaRPr lang="en-US" sz="1280" dirty="0"/>
          </a:p>
        </p:txBody>
      </p:sp>
      <p:sp>
        <p:nvSpPr>
          <p:cNvPr id="13" name="Shape 11"/>
          <p:cNvSpPr/>
          <p:nvPr/>
        </p:nvSpPr>
        <p:spPr>
          <a:xfrm>
            <a:off x="8869680" y="2304078"/>
            <a:ext cx="2331720" cy="685800"/>
          </a:xfrm>
          <a:prstGeom prst="roundRect">
            <a:avLst>
              <a:gd name="adj" fmla="val 9333"/>
            </a:avLst>
          </a:prstGeom>
          <a:solidFill>
            <a:srgbClr val="2F79A6"/>
          </a:solidFill>
          <a:ln w="12700">
            <a:solidFill>
              <a:srgbClr val="2F79A6"/>
            </a:solidFill>
            <a:prstDash val="solid"/>
          </a:ln>
        </p:spPr>
        <p:txBody>
          <a:bodyPr/>
          <a:lstStyle/>
          <a:p>
            <a:endParaRPr lang="en-US"/>
          </a:p>
        </p:txBody>
      </p:sp>
      <p:sp>
        <p:nvSpPr>
          <p:cNvPr id="14" name="Text 12"/>
          <p:cNvSpPr/>
          <p:nvPr/>
        </p:nvSpPr>
        <p:spPr>
          <a:xfrm>
            <a:off x="8961120" y="2505246"/>
            <a:ext cx="2148840" cy="274320"/>
          </a:xfrm>
          <a:prstGeom prst="rect">
            <a:avLst/>
          </a:prstGeom>
          <a:noFill/>
          <a:ln/>
        </p:spPr>
        <p:txBody>
          <a:bodyPr wrap="square" lIns="0" tIns="0" rIns="0" bIns="0" rtlCol="0" anchor="ctr">
            <a:normAutofit/>
          </a:bodyPr>
          <a:lstStyle/>
          <a:p>
            <a:pPr marL="0" indent="0" algn="ctr">
              <a:buNone/>
            </a:pPr>
            <a:r>
              <a:rPr lang="en-US" sz="1280" b="1" dirty="0">
                <a:solidFill>
                  <a:srgbClr val="FFFFFF"/>
                </a:solidFill>
              </a:rPr>
              <a:t>Gradient Boosting</a:t>
            </a:r>
            <a:endParaRPr lang="en-US" sz="1280" dirty="0"/>
          </a:p>
        </p:txBody>
      </p:sp>
      <p:sp>
        <p:nvSpPr>
          <p:cNvPr id="15" name="Text 13"/>
          <p:cNvSpPr/>
          <p:nvPr/>
        </p:nvSpPr>
        <p:spPr>
          <a:xfrm>
            <a:off x="1587441" y="3920762"/>
            <a:ext cx="9659679" cy="417322"/>
          </a:xfrm>
          <a:prstGeom prst="rect">
            <a:avLst/>
          </a:prstGeom>
          <a:noFill/>
          <a:ln/>
        </p:spPr>
        <p:txBody>
          <a:bodyPr wrap="square" rtlCol="0" anchor="ctr"/>
          <a:lstStyle/>
          <a:p>
            <a:pPr marL="0" indent="0">
              <a:buNone/>
            </a:pPr>
            <a:r>
              <a:rPr lang="en-US" sz="1800" b="1" dirty="0">
                <a:solidFill>
                  <a:srgbClr val="1D1715"/>
                </a:solidFill>
              </a:rPr>
              <a:t>Evaluation metrics: </a:t>
            </a:r>
            <a:r>
              <a:rPr lang="en-US" sz="1800" dirty="0">
                <a:solidFill>
                  <a:srgbClr val="1D1715"/>
                </a:solidFill>
              </a:rPr>
              <a:t>Accuracy, Precision, Recall, F1-score, Confusion Matrix, ROC-AUC </a:t>
            </a:r>
            <a:endParaRPr lang="en-US" sz="1800" dirty="0"/>
          </a:p>
        </p:txBody>
      </p:sp>
      <p:sp>
        <p:nvSpPr>
          <p:cNvPr id="17" name="Text 15"/>
          <p:cNvSpPr/>
          <p:nvPr/>
        </p:nvSpPr>
        <p:spPr>
          <a:xfrm>
            <a:off x="818707" y="4993588"/>
            <a:ext cx="10778933" cy="553410"/>
          </a:xfrm>
          <a:prstGeom prst="rect">
            <a:avLst/>
          </a:prstGeom>
          <a:noFill/>
          <a:ln/>
        </p:spPr>
        <p:txBody>
          <a:bodyPr wrap="square" lIns="0" tIns="0" rIns="0" bIns="0" rtlCol="0" anchor="ctr"/>
          <a:lstStyle/>
          <a:p>
            <a:pPr marL="0" indent="0">
              <a:buNone/>
            </a:pPr>
            <a:r>
              <a:rPr lang="en-US" sz="1450" b="1" dirty="0">
                <a:solidFill>
                  <a:srgbClr val="1E5C80"/>
                </a:solidFill>
              </a:rPr>
              <a:t>Because the business goal is to catch likely cancellations, recall and F1-score for the canceled class were especially important.</a:t>
            </a:r>
            <a:endParaRPr lang="en-US" sz="1450" dirty="0"/>
          </a:p>
        </p:txBody>
      </p:sp>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Random Forest Performed Best Overall</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Model comparison</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3703320" cy="4800600"/>
          </a:xfrm>
          <a:prstGeom prst="roundRect">
            <a:avLst>
              <a:gd name="adj" fmla="val 1975"/>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868680" y="1554480"/>
            <a:ext cx="3108960" cy="320040"/>
          </a:xfrm>
          <a:prstGeom prst="rect">
            <a:avLst/>
          </a:prstGeom>
          <a:noFill/>
          <a:ln/>
        </p:spPr>
        <p:txBody>
          <a:bodyPr wrap="square" rtlCol="0" anchor="ctr"/>
          <a:lstStyle/>
          <a:p>
            <a:pPr marL="0" indent="0">
              <a:buNone/>
            </a:pPr>
            <a:r>
              <a:rPr lang="en-US" sz="1800" b="1" dirty="0">
                <a:solidFill>
                  <a:srgbClr val="1D1715"/>
                </a:solidFill>
              </a:rPr>
              <a:t>Model comparison</a:t>
            </a:r>
            <a:endParaRPr lang="en-US" sz="1800" dirty="0"/>
          </a:p>
        </p:txBody>
      </p:sp>
      <p:sp>
        <p:nvSpPr>
          <p:cNvPr id="7" name="Text 5"/>
          <p:cNvSpPr/>
          <p:nvPr/>
        </p:nvSpPr>
        <p:spPr>
          <a:xfrm>
            <a:off x="868680" y="2103120"/>
            <a:ext cx="3063240" cy="1005840"/>
          </a:xfrm>
          <a:prstGeom prst="rect">
            <a:avLst/>
          </a:prstGeom>
          <a:noFill/>
          <a:ln/>
        </p:spPr>
        <p:txBody>
          <a:bodyPr wrap="square" lIns="0" tIns="0" rIns="0" bIns="0" rtlCol="0" anchor="ctr">
            <a:normAutofit/>
          </a:bodyPr>
          <a:lstStyle/>
          <a:p>
            <a:pPr marL="0" indent="0">
              <a:buNone/>
            </a:pPr>
            <a:r>
              <a:rPr lang="en-US" sz="1600" dirty="0">
                <a:solidFill>
                  <a:srgbClr val="1D1715"/>
                </a:solidFill>
              </a:rPr>
              <a:t>Random Forest achieved the strongest overall balance across accuracy, recall, and F1-score.</a:t>
            </a:r>
            <a:endParaRPr lang="en-US" sz="1600" dirty="0"/>
          </a:p>
        </p:txBody>
      </p:sp>
      <p:sp>
        <p:nvSpPr>
          <p:cNvPr id="8" name="Shape 6"/>
          <p:cNvSpPr/>
          <p:nvPr/>
        </p:nvSpPr>
        <p:spPr>
          <a:xfrm>
            <a:off x="960120" y="3474720"/>
            <a:ext cx="1280160" cy="1005840"/>
          </a:xfrm>
          <a:prstGeom prst="roundRect">
            <a:avLst>
              <a:gd name="adj" fmla="val 8000"/>
            </a:avLst>
          </a:prstGeom>
          <a:solidFill>
            <a:srgbClr val="FFFFFF"/>
          </a:solidFill>
          <a:ln w="12700">
            <a:solidFill>
              <a:srgbClr val="E3D8CC"/>
            </a:solidFill>
            <a:prstDash val="solid"/>
          </a:ln>
        </p:spPr>
        <p:txBody>
          <a:bodyPr/>
          <a:lstStyle/>
          <a:p>
            <a:endParaRPr lang="en-US"/>
          </a:p>
        </p:txBody>
      </p:sp>
      <p:sp>
        <p:nvSpPr>
          <p:cNvPr id="9" name="Text 7"/>
          <p:cNvSpPr/>
          <p:nvPr/>
        </p:nvSpPr>
        <p:spPr>
          <a:xfrm>
            <a:off x="960120" y="3675888"/>
            <a:ext cx="1280160" cy="320040"/>
          </a:xfrm>
          <a:prstGeom prst="rect">
            <a:avLst/>
          </a:prstGeom>
          <a:noFill/>
          <a:ln/>
        </p:spPr>
        <p:txBody>
          <a:bodyPr wrap="square" rtlCol="0" anchor="ctr"/>
          <a:lstStyle/>
          <a:p>
            <a:pPr marL="0" indent="0" algn="ctr">
              <a:buNone/>
            </a:pPr>
            <a:r>
              <a:rPr lang="en-US" sz="2200" b="1" dirty="0">
                <a:solidFill>
                  <a:srgbClr val="1E5C80"/>
                </a:solidFill>
                <a:latin typeface="Aptos Display" pitchFamily="34" charset="0"/>
                <a:ea typeface="Aptos Display" pitchFamily="34" charset="-122"/>
                <a:cs typeface="Aptos Display" pitchFamily="34" charset="-120"/>
              </a:rPr>
              <a:t>90.2%</a:t>
            </a:r>
            <a:endParaRPr lang="en-US" sz="2200" dirty="0"/>
          </a:p>
        </p:txBody>
      </p:sp>
      <p:sp>
        <p:nvSpPr>
          <p:cNvPr id="10" name="Text 8"/>
          <p:cNvSpPr/>
          <p:nvPr/>
        </p:nvSpPr>
        <p:spPr>
          <a:xfrm>
            <a:off x="1051560" y="4133088"/>
            <a:ext cx="1097280" cy="320040"/>
          </a:xfrm>
          <a:prstGeom prst="rect">
            <a:avLst/>
          </a:prstGeom>
          <a:noFill/>
          <a:ln/>
        </p:spPr>
        <p:txBody>
          <a:bodyPr wrap="square" lIns="0" tIns="0" rIns="0" bIns="0" rtlCol="0" anchor="ctr"/>
          <a:lstStyle/>
          <a:p>
            <a:pPr marL="0" indent="0" algn="ctr">
              <a:buNone/>
            </a:pPr>
            <a:r>
              <a:rPr lang="en-US" sz="1100" dirty="0">
                <a:solidFill>
                  <a:srgbClr val="1D1715"/>
                </a:solidFill>
                <a:latin typeface="Aptos" pitchFamily="34" charset="0"/>
                <a:ea typeface="Aptos" pitchFamily="34" charset="-122"/>
                <a:cs typeface="Aptos" pitchFamily="34" charset="-120"/>
              </a:rPr>
              <a:t>Accuracy</a:t>
            </a:r>
            <a:endParaRPr lang="en-US" sz="1100" dirty="0"/>
          </a:p>
        </p:txBody>
      </p:sp>
      <p:sp>
        <p:nvSpPr>
          <p:cNvPr id="11" name="Shape 9"/>
          <p:cNvSpPr/>
          <p:nvPr/>
        </p:nvSpPr>
        <p:spPr>
          <a:xfrm>
            <a:off x="2468880" y="3474720"/>
            <a:ext cx="1280160" cy="1005840"/>
          </a:xfrm>
          <a:prstGeom prst="roundRect">
            <a:avLst>
              <a:gd name="adj" fmla="val 8000"/>
            </a:avLst>
          </a:prstGeom>
          <a:solidFill>
            <a:srgbClr val="FFFFFF"/>
          </a:solidFill>
          <a:ln w="12700">
            <a:solidFill>
              <a:srgbClr val="E3D8CC"/>
            </a:solidFill>
            <a:prstDash val="solid"/>
          </a:ln>
        </p:spPr>
        <p:txBody>
          <a:bodyPr/>
          <a:lstStyle/>
          <a:p>
            <a:endParaRPr lang="en-US"/>
          </a:p>
        </p:txBody>
      </p:sp>
      <p:sp>
        <p:nvSpPr>
          <p:cNvPr id="12" name="Text 10"/>
          <p:cNvSpPr/>
          <p:nvPr/>
        </p:nvSpPr>
        <p:spPr>
          <a:xfrm>
            <a:off x="2468880" y="3675888"/>
            <a:ext cx="1280160" cy="320040"/>
          </a:xfrm>
          <a:prstGeom prst="rect">
            <a:avLst/>
          </a:prstGeom>
          <a:noFill/>
          <a:ln/>
        </p:spPr>
        <p:txBody>
          <a:bodyPr wrap="square" rtlCol="0" anchor="ctr"/>
          <a:lstStyle/>
          <a:p>
            <a:pPr marL="0" indent="0" algn="ctr">
              <a:buNone/>
            </a:pPr>
            <a:r>
              <a:rPr lang="en-US" sz="2200" b="1" dirty="0">
                <a:solidFill>
                  <a:srgbClr val="D8742A"/>
                </a:solidFill>
                <a:latin typeface="Aptos Display" pitchFamily="34" charset="0"/>
                <a:ea typeface="Aptos Display" pitchFamily="34" charset="-122"/>
                <a:cs typeface="Aptos Display" pitchFamily="34" charset="-120"/>
              </a:rPr>
              <a:t>84.7%</a:t>
            </a:r>
            <a:endParaRPr lang="en-US" sz="2200" dirty="0"/>
          </a:p>
        </p:txBody>
      </p:sp>
      <p:sp>
        <p:nvSpPr>
          <p:cNvPr id="13" name="Text 11"/>
          <p:cNvSpPr/>
          <p:nvPr/>
        </p:nvSpPr>
        <p:spPr>
          <a:xfrm>
            <a:off x="2511412" y="4133088"/>
            <a:ext cx="1188720" cy="320040"/>
          </a:xfrm>
          <a:prstGeom prst="rect">
            <a:avLst/>
          </a:prstGeom>
          <a:noFill/>
          <a:ln/>
        </p:spPr>
        <p:txBody>
          <a:bodyPr wrap="square" lIns="0" tIns="0" rIns="0" bIns="0" rtlCol="0" anchor="ctr"/>
          <a:lstStyle/>
          <a:p>
            <a:pPr marL="0" indent="0" algn="ctr">
              <a:buNone/>
            </a:pPr>
            <a:r>
              <a:rPr lang="en-US" sz="1100" dirty="0">
                <a:solidFill>
                  <a:srgbClr val="1D1715"/>
                </a:solidFill>
                <a:latin typeface="Aptos" pitchFamily="34" charset="0"/>
                <a:ea typeface="Aptos" pitchFamily="34" charset="-122"/>
                <a:cs typeface="Aptos" pitchFamily="34" charset="-120"/>
              </a:rPr>
              <a:t>F1-score for canceled bookings</a:t>
            </a:r>
            <a:endParaRPr lang="en-US" sz="1100" dirty="0"/>
          </a:p>
        </p:txBody>
      </p:sp>
      <p:sp>
        <p:nvSpPr>
          <p:cNvPr id="14" name="Text 12"/>
          <p:cNvSpPr/>
          <p:nvPr/>
        </p:nvSpPr>
        <p:spPr>
          <a:xfrm>
            <a:off x="914400" y="4800600"/>
            <a:ext cx="3017520" cy="457200"/>
          </a:xfrm>
          <a:prstGeom prst="rect">
            <a:avLst/>
          </a:prstGeom>
          <a:noFill/>
          <a:ln/>
        </p:spPr>
        <p:txBody>
          <a:bodyPr wrap="square" lIns="0" tIns="0" rIns="0" bIns="0" rtlCol="0" anchor="ctr"/>
          <a:lstStyle/>
          <a:p>
            <a:pPr marL="0" indent="0" algn="ctr">
              <a:buNone/>
            </a:pPr>
            <a:r>
              <a:rPr lang="en-US" sz="1280" dirty="0">
                <a:solidFill>
                  <a:srgbClr val="4B4B4B"/>
                </a:solidFill>
              </a:rPr>
              <a:t>F1-score balances precision and recall for cancellation prediction.</a:t>
            </a:r>
            <a:endParaRPr lang="en-US" sz="1280" dirty="0"/>
          </a:p>
        </p:txBody>
      </p:sp>
      <p:pic>
        <p:nvPicPr>
          <p:cNvPr id="15" name="Image 0" descr="/mnt/data/Model Comparison by F1 Score.jpg"/>
          <p:cNvPicPr>
            <a:picLocks noChangeAspect="1"/>
          </p:cNvPicPr>
          <p:nvPr/>
        </p:nvPicPr>
        <p:blipFill>
          <a:blip r:embed="rId3"/>
          <a:stretch>
            <a:fillRect/>
          </a:stretch>
        </p:blipFill>
        <p:spPr>
          <a:xfrm>
            <a:off x="4572000" y="1613715"/>
            <a:ext cx="7086600" cy="4042051"/>
          </a:xfrm>
          <a:prstGeom prst="rect">
            <a:avLst/>
          </a:prstGeom>
        </p:spPr>
      </p:pic>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Final Model: Random Forest</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Final model</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3749040" cy="4800600"/>
          </a:xfrm>
          <a:prstGeom prst="roundRect">
            <a:avLst>
              <a:gd name="adj" fmla="val 1951"/>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868680" y="1508760"/>
            <a:ext cx="3108960" cy="320040"/>
          </a:xfrm>
          <a:prstGeom prst="rect">
            <a:avLst/>
          </a:prstGeom>
          <a:noFill/>
          <a:ln/>
        </p:spPr>
        <p:txBody>
          <a:bodyPr wrap="square" rtlCol="0" anchor="ctr"/>
          <a:lstStyle/>
          <a:p>
            <a:pPr marL="0" indent="0">
              <a:buNone/>
            </a:pPr>
            <a:r>
              <a:rPr lang="en-US" sz="1800" b="1" dirty="0">
                <a:solidFill>
                  <a:srgbClr val="1D1715"/>
                </a:solidFill>
              </a:rPr>
              <a:t>Final performance</a:t>
            </a:r>
            <a:endParaRPr lang="en-US" sz="1800" dirty="0"/>
          </a:p>
        </p:txBody>
      </p:sp>
      <p:sp>
        <p:nvSpPr>
          <p:cNvPr id="7" name="Shape 5"/>
          <p:cNvSpPr/>
          <p:nvPr/>
        </p:nvSpPr>
        <p:spPr>
          <a:xfrm>
            <a:off x="868680" y="2011680"/>
            <a:ext cx="1417320" cy="1097280"/>
          </a:xfrm>
          <a:prstGeom prst="roundRect">
            <a:avLst>
              <a:gd name="adj" fmla="val 8421"/>
            </a:avLst>
          </a:prstGeom>
          <a:solidFill>
            <a:srgbClr val="FFFFFF"/>
          </a:solidFill>
          <a:ln w="12700">
            <a:solidFill>
              <a:srgbClr val="E3D8CC"/>
            </a:solidFill>
            <a:prstDash val="solid"/>
          </a:ln>
        </p:spPr>
        <p:txBody>
          <a:bodyPr/>
          <a:lstStyle/>
          <a:p>
            <a:endParaRPr lang="en-US"/>
          </a:p>
        </p:txBody>
      </p:sp>
      <p:sp>
        <p:nvSpPr>
          <p:cNvPr id="8" name="Text 6"/>
          <p:cNvSpPr/>
          <p:nvPr/>
        </p:nvSpPr>
        <p:spPr>
          <a:xfrm>
            <a:off x="868680" y="2212848"/>
            <a:ext cx="1417320" cy="320040"/>
          </a:xfrm>
          <a:prstGeom prst="rect">
            <a:avLst/>
          </a:prstGeom>
          <a:noFill/>
          <a:ln/>
        </p:spPr>
        <p:txBody>
          <a:bodyPr wrap="square" rtlCol="0" anchor="ctr"/>
          <a:lstStyle/>
          <a:p>
            <a:pPr marL="0" indent="0" algn="ctr">
              <a:buNone/>
            </a:pPr>
            <a:r>
              <a:rPr lang="en-US" sz="2200" b="1" dirty="0">
                <a:solidFill>
                  <a:srgbClr val="1E5C80"/>
                </a:solidFill>
                <a:latin typeface="Aptos Display" pitchFamily="34" charset="0"/>
                <a:ea typeface="Aptos Display" pitchFamily="34" charset="-122"/>
                <a:cs typeface="Aptos Display" pitchFamily="34" charset="-120"/>
              </a:rPr>
              <a:t>90.2%</a:t>
            </a:r>
            <a:endParaRPr lang="en-US" sz="2200" dirty="0"/>
          </a:p>
        </p:txBody>
      </p:sp>
      <p:sp>
        <p:nvSpPr>
          <p:cNvPr id="9" name="Text 7"/>
          <p:cNvSpPr/>
          <p:nvPr/>
        </p:nvSpPr>
        <p:spPr>
          <a:xfrm>
            <a:off x="960120" y="2670048"/>
            <a:ext cx="1234440" cy="320040"/>
          </a:xfrm>
          <a:prstGeom prst="rect">
            <a:avLst/>
          </a:prstGeom>
          <a:noFill/>
          <a:ln/>
        </p:spPr>
        <p:txBody>
          <a:bodyPr wrap="square" lIns="0" tIns="0" rIns="0" bIns="0" rtlCol="0" anchor="ctr"/>
          <a:lstStyle/>
          <a:p>
            <a:pPr marL="0" indent="0" algn="ctr">
              <a:buNone/>
            </a:pPr>
            <a:r>
              <a:rPr lang="en-US" sz="1100" dirty="0">
                <a:solidFill>
                  <a:srgbClr val="1D1715"/>
                </a:solidFill>
                <a:latin typeface="Aptos" pitchFamily="34" charset="0"/>
                <a:ea typeface="Aptos" pitchFamily="34" charset="-122"/>
                <a:cs typeface="Aptos" pitchFamily="34" charset="-120"/>
              </a:rPr>
              <a:t>Accuracy</a:t>
            </a:r>
            <a:endParaRPr lang="en-US" sz="1100" dirty="0"/>
          </a:p>
        </p:txBody>
      </p:sp>
      <p:sp>
        <p:nvSpPr>
          <p:cNvPr id="10" name="Shape 8"/>
          <p:cNvSpPr/>
          <p:nvPr/>
        </p:nvSpPr>
        <p:spPr>
          <a:xfrm>
            <a:off x="2560320" y="2011680"/>
            <a:ext cx="1417320" cy="1097280"/>
          </a:xfrm>
          <a:prstGeom prst="roundRect">
            <a:avLst>
              <a:gd name="adj" fmla="val 8421"/>
            </a:avLst>
          </a:prstGeom>
          <a:solidFill>
            <a:srgbClr val="FFFFFF"/>
          </a:solidFill>
          <a:ln w="12700">
            <a:solidFill>
              <a:srgbClr val="E3D8CC"/>
            </a:solidFill>
            <a:prstDash val="solid"/>
          </a:ln>
        </p:spPr>
        <p:txBody>
          <a:bodyPr/>
          <a:lstStyle/>
          <a:p>
            <a:endParaRPr lang="en-US" dirty="0"/>
          </a:p>
        </p:txBody>
      </p:sp>
      <p:sp>
        <p:nvSpPr>
          <p:cNvPr id="11" name="Text 9"/>
          <p:cNvSpPr/>
          <p:nvPr/>
        </p:nvSpPr>
        <p:spPr>
          <a:xfrm>
            <a:off x="2560320" y="2191582"/>
            <a:ext cx="1417320" cy="320040"/>
          </a:xfrm>
          <a:prstGeom prst="rect">
            <a:avLst/>
          </a:prstGeom>
          <a:noFill/>
          <a:ln/>
        </p:spPr>
        <p:txBody>
          <a:bodyPr wrap="square" rtlCol="0" anchor="ctr"/>
          <a:lstStyle/>
          <a:p>
            <a:pPr marL="0" indent="0" algn="ctr">
              <a:buNone/>
            </a:pPr>
            <a:r>
              <a:rPr lang="en-US" sz="2200" b="1" dirty="0">
                <a:solidFill>
                  <a:srgbClr val="D8742A"/>
                </a:solidFill>
                <a:latin typeface="Aptos Display" pitchFamily="34" charset="0"/>
                <a:ea typeface="Aptos Display" pitchFamily="34" charset="-122"/>
                <a:cs typeface="Aptos Display" pitchFamily="34" charset="-120"/>
              </a:rPr>
              <a:t>87.3%</a:t>
            </a:r>
            <a:endParaRPr lang="en-US" sz="2200" dirty="0"/>
          </a:p>
        </p:txBody>
      </p:sp>
      <p:sp>
        <p:nvSpPr>
          <p:cNvPr id="12" name="Text 10"/>
          <p:cNvSpPr/>
          <p:nvPr/>
        </p:nvSpPr>
        <p:spPr>
          <a:xfrm>
            <a:off x="2651760" y="2670048"/>
            <a:ext cx="1234440" cy="320040"/>
          </a:xfrm>
          <a:prstGeom prst="rect">
            <a:avLst/>
          </a:prstGeom>
          <a:noFill/>
          <a:ln/>
        </p:spPr>
        <p:txBody>
          <a:bodyPr wrap="square" lIns="0" tIns="0" rIns="0" bIns="0" rtlCol="0" anchor="ctr"/>
          <a:lstStyle/>
          <a:p>
            <a:pPr algn="ctr"/>
            <a:r>
              <a:rPr lang="en-US" sz="1100" dirty="0">
                <a:solidFill>
                  <a:srgbClr val="1D1715"/>
                </a:solidFill>
                <a:latin typeface="Aptos" pitchFamily="34" charset="0"/>
                <a:ea typeface="Aptos" pitchFamily="34" charset="-122"/>
                <a:cs typeface="Aptos" pitchFamily="34" charset="-120"/>
              </a:rPr>
              <a:t>Precision </a:t>
            </a:r>
            <a:r>
              <a:rPr lang="en-US" sz="1100" dirty="0"/>
              <a:t>for canceled bookings</a:t>
            </a:r>
          </a:p>
        </p:txBody>
      </p:sp>
      <p:sp>
        <p:nvSpPr>
          <p:cNvPr id="13" name="Shape 11"/>
          <p:cNvSpPr/>
          <p:nvPr/>
        </p:nvSpPr>
        <p:spPr>
          <a:xfrm>
            <a:off x="868680" y="3331183"/>
            <a:ext cx="1417320" cy="1104935"/>
          </a:xfrm>
          <a:prstGeom prst="roundRect">
            <a:avLst>
              <a:gd name="adj" fmla="val 8421"/>
            </a:avLst>
          </a:prstGeom>
          <a:solidFill>
            <a:srgbClr val="FFFFFF"/>
          </a:solidFill>
          <a:ln w="12700">
            <a:solidFill>
              <a:srgbClr val="E3D8CC"/>
            </a:solidFill>
            <a:prstDash val="solid"/>
          </a:ln>
        </p:spPr>
        <p:txBody>
          <a:bodyPr/>
          <a:lstStyle/>
          <a:p>
            <a:endParaRPr lang="en-US"/>
          </a:p>
        </p:txBody>
      </p:sp>
      <p:sp>
        <p:nvSpPr>
          <p:cNvPr id="14" name="Text 12"/>
          <p:cNvSpPr/>
          <p:nvPr/>
        </p:nvSpPr>
        <p:spPr>
          <a:xfrm>
            <a:off x="868680" y="3511086"/>
            <a:ext cx="1417320" cy="320040"/>
          </a:xfrm>
          <a:prstGeom prst="rect">
            <a:avLst/>
          </a:prstGeom>
          <a:noFill/>
          <a:ln/>
        </p:spPr>
        <p:txBody>
          <a:bodyPr wrap="square" rtlCol="0" anchor="ctr"/>
          <a:lstStyle/>
          <a:p>
            <a:pPr marL="0" indent="0" algn="ctr">
              <a:buNone/>
            </a:pPr>
            <a:r>
              <a:rPr lang="en-US" sz="2200" b="1" dirty="0">
                <a:solidFill>
                  <a:srgbClr val="1E5C80"/>
                </a:solidFill>
                <a:latin typeface="Aptos Display" pitchFamily="34" charset="0"/>
                <a:ea typeface="Aptos Display" pitchFamily="34" charset="-122"/>
                <a:cs typeface="Aptos Display" pitchFamily="34" charset="-120"/>
              </a:rPr>
              <a:t>82.2%</a:t>
            </a:r>
            <a:endParaRPr lang="en-US" sz="2200" dirty="0"/>
          </a:p>
        </p:txBody>
      </p:sp>
      <p:sp>
        <p:nvSpPr>
          <p:cNvPr id="15" name="Text 13"/>
          <p:cNvSpPr/>
          <p:nvPr/>
        </p:nvSpPr>
        <p:spPr>
          <a:xfrm>
            <a:off x="960120" y="3978919"/>
            <a:ext cx="1234440" cy="320040"/>
          </a:xfrm>
          <a:prstGeom prst="rect">
            <a:avLst/>
          </a:prstGeom>
          <a:noFill/>
          <a:ln/>
        </p:spPr>
        <p:txBody>
          <a:bodyPr wrap="square" lIns="0" tIns="0" rIns="0" bIns="0" rtlCol="0" anchor="ctr"/>
          <a:lstStyle/>
          <a:p>
            <a:pPr algn="ctr"/>
            <a:r>
              <a:rPr lang="en-US" sz="1100" dirty="0">
                <a:solidFill>
                  <a:srgbClr val="1D1715"/>
                </a:solidFill>
                <a:latin typeface="Aptos" pitchFamily="34" charset="0"/>
                <a:ea typeface="Aptos" pitchFamily="34" charset="-122"/>
                <a:cs typeface="Aptos" pitchFamily="34" charset="-120"/>
              </a:rPr>
              <a:t>Recall </a:t>
            </a:r>
            <a:r>
              <a:rPr lang="en-US" sz="1100" dirty="0"/>
              <a:t>for canceled bookings</a:t>
            </a:r>
          </a:p>
        </p:txBody>
      </p:sp>
      <p:sp>
        <p:nvSpPr>
          <p:cNvPr id="16" name="Shape 14"/>
          <p:cNvSpPr/>
          <p:nvPr/>
        </p:nvSpPr>
        <p:spPr>
          <a:xfrm>
            <a:off x="2560320" y="3352449"/>
            <a:ext cx="1417320" cy="1065381"/>
          </a:xfrm>
          <a:prstGeom prst="roundRect">
            <a:avLst>
              <a:gd name="adj" fmla="val 8421"/>
            </a:avLst>
          </a:prstGeom>
          <a:solidFill>
            <a:srgbClr val="FFFFFF"/>
          </a:solidFill>
          <a:ln w="12700">
            <a:solidFill>
              <a:srgbClr val="E3D8CC"/>
            </a:solidFill>
            <a:prstDash val="solid"/>
          </a:ln>
        </p:spPr>
        <p:txBody>
          <a:bodyPr/>
          <a:lstStyle/>
          <a:p>
            <a:endParaRPr lang="en-US"/>
          </a:p>
        </p:txBody>
      </p:sp>
      <p:sp>
        <p:nvSpPr>
          <p:cNvPr id="17" name="Text 15"/>
          <p:cNvSpPr/>
          <p:nvPr/>
        </p:nvSpPr>
        <p:spPr>
          <a:xfrm>
            <a:off x="2560320" y="3511086"/>
            <a:ext cx="1417320" cy="320040"/>
          </a:xfrm>
          <a:prstGeom prst="rect">
            <a:avLst/>
          </a:prstGeom>
          <a:noFill/>
          <a:ln/>
        </p:spPr>
        <p:txBody>
          <a:bodyPr wrap="square" rtlCol="0" anchor="ctr"/>
          <a:lstStyle/>
          <a:p>
            <a:pPr marL="0" indent="0" algn="ctr">
              <a:buNone/>
            </a:pPr>
            <a:r>
              <a:rPr lang="en-US" sz="2200" b="1" dirty="0">
                <a:solidFill>
                  <a:srgbClr val="D8742A"/>
                </a:solidFill>
                <a:latin typeface="Aptos Display" pitchFamily="34" charset="0"/>
                <a:ea typeface="Aptos Display" pitchFamily="34" charset="-122"/>
                <a:cs typeface="Aptos Display" pitchFamily="34" charset="-120"/>
              </a:rPr>
              <a:t>84.7%</a:t>
            </a:r>
            <a:endParaRPr lang="en-US" sz="2200" dirty="0"/>
          </a:p>
        </p:txBody>
      </p:sp>
      <p:sp>
        <p:nvSpPr>
          <p:cNvPr id="18" name="Text 16"/>
          <p:cNvSpPr/>
          <p:nvPr/>
        </p:nvSpPr>
        <p:spPr>
          <a:xfrm>
            <a:off x="2651760" y="3978919"/>
            <a:ext cx="1234440" cy="320040"/>
          </a:xfrm>
          <a:prstGeom prst="rect">
            <a:avLst/>
          </a:prstGeom>
          <a:noFill/>
          <a:ln/>
        </p:spPr>
        <p:txBody>
          <a:bodyPr wrap="square" lIns="0" tIns="0" rIns="0" bIns="0" rtlCol="0" anchor="ctr"/>
          <a:lstStyle/>
          <a:p>
            <a:pPr algn="ctr"/>
            <a:r>
              <a:rPr lang="en-US" sz="1100" dirty="0">
                <a:solidFill>
                  <a:srgbClr val="1D1715"/>
                </a:solidFill>
                <a:latin typeface="Aptos" pitchFamily="34" charset="0"/>
                <a:ea typeface="Aptos" pitchFamily="34" charset="-122"/>
                <a:cs typeface="Aptos" pitchFamily="34" charset="-120"/>
              </a:rPr>
              <a:t>F1-score </a:t>
            </a:r>
            <a:r>
              <a:rPr lang="en-US" sz="1100" dirty="0"/>
              <a:t>for canceled bookings</a:t>
            </a:r>
          </a:p>
        </p:txBody>
      </p:sp>
      <p:sp>
        <p:nvSpPr>
          <p:cNvPr id="19" name="Shape 17"/>
          <p:cNvSpPr/>
          <p:nvPr/>
        </p:nvSpPr>
        <p:spPr>
          <a:xfrm>
            <a:off x="1645920" y="4650688"/>
            <a:ext cx="1554480" cy="978408"/>
          </a:xfrm>
          <a:prstGeom prst="roundRect">
            <a:avLst>
              <a:gd name="adj" fmla="val 8421"/>
            </a:avLst>
          </a:prstGeom>
          <a:solidFill>
            <a:srgbClr val="FFFFFF"/>
          </a:solidFill>
          <a:ln w="12700">
            <a:solidFill>
              <a:srgbClr val="E3D8CC"/>
            </a:solidFill>
            <a:prstDash val="solid"/>
          </a:ln>
        </p:spPr>
        <p:txBody>
          <a:bodyPr/>
          <a:lstStyle/>
          <a:p>
            <a:endParaRPr lang="en-US"/>
          </a:p>
        </p:txBody>
      </p:sp>
      <p:sp>
        <p:nvSpPr>
          <p:cNvPr id="20" name="Text 18"/>
          <p:cNvSpPr/>
          <p:nvPr/>
        </p:nvSpPr>
        <p:spPr>
          <a:xfrm>
            <a:off x="1645920" y="4819957"/>
            <a:ext cx="1554480" cy="320040"/>
          </a:xfrm>
          <a:prstGeom prst="rect">
            <a:avLst/>
          </a:prstGeom>
          <a:noFill/>
          <a:ln/>
        </p:spPr>
        <p:txBody>
          <a:bodyPr wrap="square" rtlCol="0" anchor="ctr"/>
          <a:lstStyle/>
          <a:p>
            <a:pPr marL="0" indent="0" algn="ctr">
              <a:buNone/>
            </a:pPr>
            <a:r>
              <a:rPr lang="en-US" sz="2200" b="1" dirty="0">
                <a:solidFill>
                  <a:srgbClr val="1E5C80"/>
                </a:solidFill>
                <a:latin typeface="Aptos Display" pitchFamily="34" charset="0"/>
                <a:ea typeface="Aptos Display" pitchFamily="34" charset="-122"/>
                <a:cs typeface="Aptos Display" pitchFamily="34" charset="-120"/>
              </a:rPr>
              <a:t>0.954</a:t>
            </a:r>
            <a:endParaRPr lang="en-US" sz="2200" dirty="0"/>
          </a:p>
        </p:txBody>
      </p:sp>
      <p:sp>
        <p:nvSpPr>
          <p:cNvPr id="21" name="Text 19"/>
          <p:cNvSpPr/>
          <p:nvPr/>
        </p:nvSpPr>
        <p:spPr>
          <a:xfrm>
            <a:off x="1737360" y="5213359"/>
            <a:ext cx="1371600" cy="320040"/>
          </a:xfrm>
          <a:prstGeom prst="rect">
            <a:avLst/>
          </a:prstGeom>
          <a:noFill/>
          <a:ln/>
        </p:spPr>
        <p:txBody>
          <a:bodyPr wrap="square" lIns="0" tIns="0" rIns="0" bIns="0" rtlCol="0" anchor="ctr"/>
          <a:lstStyle/>
          <a:p>
            <a:pPr marL="0" indent="0" algn="ctr">
              <a:buNone/>
            </a:pPr>
            <a:r>
              <a:rPr lang="en-US" sz="1100" dirty="0">
                <a:solidFill>
                  <a:srgbClr val="1D1715"/>
                </a:solidFill>
                <a:latin typeface="Aptos" pitchFamily="34" charset="0"/>
                <a:ea typeface="Aptos" pitchFamily="34" charset="-122"/>
                <a:cs typeface="Aptos" pitchFamily="34" charset="-120"/>
              </a:rPr>
              <a:t>ROC-AUC</a:t>
            </a:r>
            <a:endParaRPr lang="en-US" sz="1100" dirty="0"/>
          </a:p>
        </p:txBody>
      </p:sp>
      <p:pic>
        <p:nvPicPr>
          <p:cNvPr id="22" name="Image 0" descr="/mnt/data/Confusion Matrix - Random Forest.jpg"/>
          <p:cNvPicPr>
            <a:picLocks noChangeAspect="1"/>
          </p:cNvPicPr>
          <p:nvPr/>
        </p:nvPicPr>
        <p:blipFill>
          <a:blip r:embed="rId3"/>
          <a:stretch>
            <a:fillRect/>
          </a:stretch>
        </p:blipFill>
        <p:spPr>
          <a:xfrm>
            <a:off x="4937760" y="1234440"/>
            <a:ext cx="6400800" cy="4800600"/>
          </a:xfrm>
          <a:prstGeom prst="rect">
            <a:avLst/>
          </a:prstGeom>
        </p:spPr>
      </p:pic>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Top Predictors of Booking Cancellation</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Feature importance</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434866" y="1499192"/>
            <a:ext cx="2255172" cy="2115877"/>
          </a:xfrm>
          <a:prstGeom prst="roundRect">
            <a:avLst>
              <a:gd name="adj" fmla="val 2105"/>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401547" y="1742045"/>
            <a:ext cx="2447969" cy="320040"/>
          </a:xfrm>
          <a:prstGeom prst="rect">
            <a:avLst/>
          </a:prstGeom>
          <a:noFill/>
          <a:ln/>
        </p:spPr>
        <p:txBody>
          <a:bodyPr wrap="square" rtlCol="0" anchor="ctr">
            <a:normAutofit/>
          </a:bodyPr>
          <a:lstStyle/>
          <a:p>
            <a:pPr marL="0" indent="0">
              <a:buNone/>
            </a:pPr>
            <a:r>
              <a:rPr lang="en-US" sz="1400" b="1" dirty="0">
                <a:solidFill>
                  <a:srgbClr val="1D1715"/>
                </a:solidFill>
              </a:rPr>
              <a:t>Most important predictors</a:t>
            </a:r>
            <a:endParaRPr lang="en-US" sz="1400" dirty="0"/>
          </a:p>
        </p:txBody>
      </p:sp>
      <p:sp>
        <p:nvSpPr>
          <p:cNvPr id="7" name="Text 5"/>
          <p:cNvSpPr/>
          <p:nvPr/>
        </p:nvSpPr>
        <p:spPr>
          <a:xfrm>
            <a:off x="563519" y="2227526"/>
            <a:ext cx="2349795" cy="274320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380" dirty="0">
                <a:solidFill>
                  <a:srgbClr val="1D1715"/>
                </a:solidFill>
                <a:latin typeface="Aptos" pitchFamily="34" charset="0"/>
                <a:ea typeface="Aptos" pitchFamily="34" charset="-122"/>
                <a:cs typeface="Aptos" pitchFamily="34" charset="-120"/>
              </a:rPr>
              <a:t>Lead time</a:t>
            </a:r>
          </a:p>
          <a:p>
            <a:pPr marL="285750" indent="-285750">
              <a:buFont typeface="Arial" panose="020B0604020202020204" pitchFamily="34" charset="0"/>
              <a:buChar char="•"/>
            </a:pPr>
            <a:r>
              <a:rPr lang="en-US" sz="1380" dirty="0">
                <a:solidFill>
                  <a:srgbClr val="1D1715"/>
                </a:solidFill>
                <a:latin typeface="Aptos" pitchFamily="34" charset="0"/>
                <a:ea typeface="Aptos" pitchFamily="34" charset="-122"/>
                <a:cs typeface="Aptos" pitchFamily="34" charset="-120"/>
              </a:rPr>
              <a:t>Average price</a:t>
            </a:r>
          </a:p>
          <a:p>
            <a:pPr marL="285750" indent="-285750">
              <a:buFont typeface="Arial" panose="020B0604020202020204" pitchFamily="34" charset="0"/>
              <a:buChar char="•"/>
            </a:pPr>
            <a:r>
              <a:rPr lang="en-US" sz="1380" dirty="0">
                <a:solidFill>
                  <a:srgbClr val="1D1715"/>
                </a:solidFill>
                <a:latin typeface="Aptos" pitchFamily="34" charset="0"/>
                <a:ea typeface="Aptos" pitchFamily="34" charset="-122"/>
                <a:cs typeface="Aptos" pitchFamily="34" charset="-120"/>
              </a:rPr>
              <a:t>Special requests</a:t>
            </a:r>
          </a:p>
          <a:p>
            <a:pPr marL="285750" indent="-285750">
              <a:buFont typeface="Arial" panose="020B0604020202020204" pitchFamily="34" charset="0"/>
              <a:buChar char="•"/>
            </a:pPr>
            <a:r>
              <a:rPr lang="en-US" sz="1380" dirty="0">
                <a:solidFill>
                  <a:srgbClr val="1D1715"/>
                </a:solidFill>
                <a:latin typeface="Aptos" pitchFamily="34" charset="0"/>
                <a:ea typeface="Aptos" pitchFamily="34" charset="-122"/>
                <a:cs typeface="Aptos" pitchFamily="34" charset="-120"/>
              </a:rPr>
              <a:t>Reservation timing</a:t>
            </a:r>
          </a:p>
          <a:p>
            <a:pPr marL="285750" indent="-285750">
              <a:buFont typeface="Arial" panose="020B0604020202020204" pitchFamily="34" charset="0"/>
              <a:buChar char="•"/>
            </a:pPr>
            <a:r>
              <a:rPr lang="en-US" sz="1380" dirty="0">
                <a:solidFill>
                  <a:srgbClr val="1D1715"/>
                </a:solidFill>
                <a:latin typeface="Aptos" pitchFamily="34" charset="0"/>
                <a:ea typeface="Aptos" pitchFamily="34" charset="-122"/>
                <a:cs typeface="Aptos" pitchFamily="34" charset="-120"/>
              </a:rPr>
              <a:t>Online market segment</a:t>
            </a:r>
            <a:endParaRPr lang="en-US" sz="1380" dirty="0"/>
          </a:p>
        </p:txBody>
      </p:sp>
      <p:pic>
        <p:nvPicPr>
          <p:cNvPr id="8" name="Image 0" descr="/mnt/data/Top 15 Important Features - Random Forest.jpg"/>
          <p:cNvPicPr>
            <a:picLocks noChangeAspect="1"/>
          </p:cNvPicPr>
          <p:nvPr/>
        </p:nvPicPr>
        <p:blipFill>
          <a:blip r:embed="rId3"/>
          <a:stretch>
            <a:fillRect/>
          </a:stretch>
        </p:blipFill>
        <p:spPr>
          <a:xfrm>
            <a:off x="2849516" y="1499192"/>
            <a:ext cx="8886704" cy="4571997"/>
          </a:xfrm>
          <a:prstGeom prst="rect">
            <a:avLst/>
          </a:prstGeom>
        </p:spPr>
      </p:pic>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Business Recommendations</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Action</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11064240" cy="4800600"/>
          </a:xfrm>
          <a:prstGeom prst="roundRect">
            <a:avLst>
              <a:gd name="adj" fmla="val 1524"/>
            </a:avLst>
          </a:prstGeom>
          <a:solidFill>
            <a:srgbClr val="FFFFFF"/>
          </a:solidFill>
          <a:ln w="12700">
            <a:solidFill>
              <a:srgbClr val="E3D8CC"/>
            </a:solidFill>
            <a:prstDash val="solid"/>
          </a:ln>
        </p:spPr>
        <p:txBody>
          <a:bodyPr/>
          <a:lstStyle/>
          <a:p>
            <a:endParaRPr lang="en-US"/>
          </a:p>
        </p:txBody>
      </p:sp>
      <p:sp>
        <p:nvSpPr>
          <p:cNvPr id="6" name="Shape 4"/>
          <p:cNvSpPr/>
          <p:nvPr/>
        </p:nvSpPr>
        <p:spPr>
          <a:xfrm>
            <a:off x="868680" y="1609344"/>
            <a:ext cx="320040" cy="320040"/>
          </a:xfrm>
          <a:prstGeom prst="ellipse">
            <a:avLst/>
          </a:prstGeom>
          <a:solidFill>
            <a:srgbClr val="2F79A6"/>
          </a:solidFill>
          <a:ln w="12700">
            <a:solidFill>
              <a:srgbClr val="2F79A6"/>
            </a:solidFill>
            <a:prstDash val="solid"/>
          </a:ln>
        </p:spPr>
        <p:txBody>
          <a:bodyPr/>
          <a:lstStyle/>
          <a:p>
            <a:endParaRPr lang="en-US"/>
          </a:p>
        </p:txBody>
      </p:sp>
      <p:sp>
        <p:nvSpPr>
          <p:cNvPr id="7" name="Text 5"/>
          <p:cNvSpPr/>
          <p:nvPr/>
        </p:nvSpPr>
        <p:spPr>
          <a:xfrm>
            <a:off x="868680" y="1664208"/>
            <a:ext cx="320040" cy="146304"/>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8" name="Text 6"/>
          <p:cNvSpPr/>
          <p:nvPr/>
        </p:nvSpPr>
        <p:spPr>
          <a:xfrm>
            <a:off x="1325880" y="1609344"/>
            <a:ext cx="4389120" cy="256032"/>
          </a:xfrm>
          <a:prstGeom prst="rect">
            <a:avLst/>
          </a:prstGeom>
          <a:noFill/>
          <a:ln/>
        </p:spPr>
        <p:txBody>
          <a:bodyPr wrap="square" lIns="0" tIns="0" rIns="0" bIns="0" rtlCol="0" anchor="ctr"/>
          <a:lstStyle/>
          <a:p>
            <a:pPr marL="0" indent="0">
              <a:buNone/>
            </a:pPr>
            <a:r>
              <a:rPr lang="en-US" sz="1530" b="1" dirty="0">
                <a:solidFill>
                  <a:srgbClr val="1D1715"/>
                </a:solidFill>
              </a:rPr>
              <a:t>Monitor long lead-time bookings</a:t>
            </a:r>
            <a:endParaRPr lang="en-US" sz="1530" dirty="0"/>
          </a:p>
        </p:txBody>
      </p:sp>
      <p:sp>
        <p:nvSpPr>
          <p:cNvPr id="9" name="Text 7"/>
          <p:cNvSpPr/>
          <p:nvPr/>
        </p:nvSpPr>
        <p:spPr>
          <a:xfrm>
            <a:off x="5486400" y="1609344"/>
            <a:ext cx="5577840" cy="292608"/>
          </a:xfrm>
          <a:prstGeom prst="rect">
            <a:avLst/>
          </a:prstGeom>
          <a:noFill/>
          <a:ln/>
        </p:spPr>
        <p:txBody>
          <a:bodyPr wrap="square" lIns="0" tIns="0" rIns="0" bIns="0" rtlCol="0" anchor="ctr">
            <a:normAutofit/>
          </a:bodyPr>
          <a:lstStyle/>
          <a:p>
            <a:pPr marL="0" indent="0">
              <a:buNone/>
            </a:pPr>
            <a:r>
              <a:rPr lang="en-US" sz="1370" dirty="0">
                <a:solidFill>
                  <a:srgbClr val="4B4B4B"/>
                </a:solidFill>
              </a:rPr>
              <a:t>Flag bookings made far in advance, especially 181+ days.</a:t>
            </a:r>
            <a:endParaRPr lang="en-US" sz="1370" dirty="0"/>
          </a:p>
        </p:txBody>
      </p:sp>
      <p:sp>
        <p:nvSpPr>
          <p:cNvPr id="10" name="Shape 8"/>
          <p:cNvSpPr/>
          <p:nvPr/>
        </p:nvSpPr>
        <p:spPr>
          <a:xfrm>
            <a:off x="868680" y="2450592"/>
            <a:ext cx="320040" cy="320040"/>
          </a:xfrm>
          <a:prstGeom prst="ellipse">
            <a:avLst/>
          </a:prstGeom>
          <a:solidFill>
            <a:srgbClr val="D8742A"/>
          </a:solidFill>
          <a:ln w="12700">
            <a:solidFill>
              <a:srgbClr val="D8742A"/>
            </a:solidFill>
            <a:prstDash val="solid"/>
          </a:ln>
        </p:spPr>
        <p:txBody>
          <a:bodyPr/>
          <a:lstStyle/>
          <a:p>
            <a:endParaRPr lang="en-US"/>
          </a:p>
        </p:txBody>
      </p:sp>
      <p:sp>
        <p:nvSpPr>
          <p:cNvPr id="11" name="Text 9"/>
          <p:cNvSpPr/>
          <p:nvPr/>
        </p:nvSpPr>
        <p:spPr>
          <a:xfrm>
            <a:off x="868680" y="2505456"/>
            <a:ext cx="320040" cy="146304"/>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2" name="Text 10"/>
          <p:cNvSpPr/>
          <p:nvPr/>
        </p:nvSpPr>
        <p:spPr>
          <a:xfrm>
            <a:off x="1325880" y="2450592"/>
            <a:ext cx="4389120" cy="256032"/>
          </a:xfrm>
          <a:prstGeom prst="rect">
            <a:avLst/>
          </a:prstGeom>
          <a:noFill/>
          <a:ln/>
        </p:spPr>
        <p:txBody>
          <a:bodyPr wrap="square" lIns="0" tIns="0" rIns="0" bIns="0" rtlCol="0" anchor="ctr"/>
          <a:lstStyle/>
          <a:p>
            <a:pPr marL="0" indent="0">
              <a:buNone/>
            </a:pPr>
            <a:r>
              <a:rPr lang="en-US" sz="1530" b="1" dirty="0">
                <a:solidFill>
                  <a:srgbClr val="1D1715"/>
                </a:solidFill>
              </a:rPr>
              <a:t>Prioritize online booking retention</a:t>
            </a:r>
            <a:endParaRPr lang="en-US" sz="1530" dirty="0"/>
          </a:p>
        </p:txBody>
      </p:sp>
      <p:sp>
        <p:nvSpPr>
          <p:cNvPr id="13" name="Text 11"/>
          <p:cNvSpPr/>
          <p:nvPr/>
        </p:nvSpPr>
        <p:spPr>
          <a:xfrm>
            <a:off x="5486400" y="2450592"/>
            <a:ext cx="5577840" cy="292608"/>
          </a:xfrm>
          <a:prstGeom prst="rect">
            <a:avLst/>
          </a:prstGeom>
          <a:noFill/>
          <a:ln/>
        </p:spPr>
        <p:txBody>
          <a:bodyPr wrap="square" lIns="0" tIns="0" rIns="0" bIns="0" rtlCol="0" anchor="ctr">
            <a:normAutofit/>
          </a:bodyPr>
          <a:lstStyle/>
          <a:p>
            <a:pPr marL="0" indent="0">
              <a:buNone/>
            </a:pPr>
            <a:r>
              <a:rPr lang="en-US" sz="1370" dirty="0">
                <a:solidFill>
                  <a:srgbClr val="4B4B4B"/>
                </a:solidFill>
              </a:rPr>
              <a:t>Use reminder emails, confirmation messages, or targeted incentives.</a:t>
            </a:r>
            <a:endParaRPr lang="en-US" sz="1370" dirty="0"/>
          </a:p>
        </p:txBody>
      </p:sp>
      <p:sp>
        <p:nvSpPr>
          <p:cNvPr id="14" name="Shape 12"/>
          <p:cNvSpPr/>
          <p:nvPr/>
        </p:nvSpPr>
        <p:spPr>
          <a:xfrm>
            <a:off x="868680" y="3291840"/>
            <a:ext cx="320040" cy="320040"/>
          </a:xfrm>
          <a:prstGeom prst="ellipse">
            <a:avLst/>
          </a:prstGeom>
          <a:solidFill>
            <a:srgbClr val="2F79A6"/>
          </a:solidFill>
          <a:ln w="12700">
            <a:solidFill>
              <a:srgbClr val="2F79A6"/>
            </a:solidFill>
            <a:prstDash val="solid"/>
          </a:ln>
        </p:spPr>
        <p:txBody>
          <a:bodyPr/>
          <a:lstStyle/>
          <a:p>
            <a:endParaRPr lang="en-US"/>
          </a:p>
        </p:txBody>
      </p:sp>
      <p:sp>
        <p:nvSpPr>
          <p:cNvPr id="15" name="Text 13"/>
          <p:cNvSpPr/>
          <p:nvPr/>
        </p:nvSpPr>
        <p:spPr>
          <a:xfrm>
            <a:off x="868680" y="3346704"/>
            <a:ext cx="320040" cy="146304"/>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6" name="Text 14"/>
          <p:cNvSpPr/>
          <p:nvPr/>
        </p:nvSpPr>
        <p:spPr>
          <a:xfrm>
            <a:off x="1325880" y="3291840"/>
            <a:ext cx="4389120" cy="256032"/>
          </a:xfrm>
          <a:prstGeom prst="rect">
            <a:avLst/>
          </a:prstGeom>
          <a:noFill/>
          <a:ln/>
        </p:spPr>
        <p:txBody>
          <a:bodyPr wrap="square" lIns="0" tIns="0" rIns="0" bIns="0" rtlCol="0" anchor="ctr"/>
          <a:lstStyle/>
          <a:p>
            <a:pPr marL="0" indent="0">
              <a:buNone/>
            </a:pPr>
            <a:r>
              <a:rPr lang="en-US" sz="1530" b="1" dirty="0">
                <a:solidFill>
                  <a:srgbClr val="1D1715"/>
                </a:solidFill>
              </a:rPr>
              <a:t>Use special requests as an engagement signal</a:t>
            </a:r>
            <a:endParaRPr lang="en-US" sz="1530" dirty="0"/>
          </a:p>
        </p:txBody>
      </p:sp>
      <p:sp>
        <p:nvSpPr>
          <p:cNvPr id="17" name="Text 15"/>
          <p:cNvSpPr/>
          <p:nvPr/>
        </p:nvSpPr>
        <p:spPr>
          <a:xfrm>
            <a:off x="5486400" y="3291840"/>
            <a:ext cx="5577840" cy="292608"/>
          </a:xfrm>
          <a:prstGeom prst="rect">
            <a:avLst/>
          </a:prstGeom>
          <a:noFill/>
          <a:ln/>
        </p:spPr>
        <p:txBody>
          <a:bodyPr wrap="square" lIns="0" tIns="0" rIns="0" bIns="0" rtlCol="0" anchor="ctr">
            <a:normAutofit/>
          </a:bodyPr>
          <a:lstStyle/>
          <a:p>
            <a:pPr marL="0" indent="0">
              <a:buNone/>
            </a:pPr>
            <a:r>
              <a:rPr lang="en-US" sz="1370" dirty="0">
                <a:solidFill>
                  <a:srgbClr val="4B4B4B"/>
                </a:solidFill>
              </a:rPr>
              <a:t>Customers with requests may be more committed to their booking.</a:t>
            </a:r>
            <a:endParaRPr lang="en-US" sz="1370" dirty="0"/>
          </a:p>
        </p:txBody>
      </p:sp>
      <p:sp>
        <p:nvSpPr>
          <p:cNvPr id="18" name="Shape 16"/>
          <p:cNvSpPr/>
          <p:nvPr/>
        </p:nvSpPr>
        <p:spPr>
          <a:xfrm>
            <a:off x="868680" y="4133088"/>
            <a:ext cx="320040" cy="320040"/>
          </a:xfrm>
          <a:prstGeom prst="ellipse">
            <a:avLst/>
          </a:prstGeom>
          <a:solidFill>
            <a:srgbClr val="D8742A"/>
          </a:solidFill>
          <a:ln w="12700">
            <a:solidFill>
              <a:srgbClr val="D8742A"/>
            </a:solidFill>
            <a:prstDash val="solid"/>
          </a:ln>
        </p:spPr>
        <p:txBody>
          <a:bodyPr/>
          <a:lstStyle/>
          <a:p>
            <a:endParaRPr lang="en-US"/>
          </a:p>
        </p:txBody>
      </p:sp>
      <p:sp>
        <p:nvSpPr>
          <p:cNvPr id="19" name="Text 17"/>
          <p:cNvSpPr/>
          <p:nvPr/>
        </p:nvSpPr>
        <p:spPr>
          <a:xfrm>
            <a:off x="868680" y="4187952"/>
            <a:ext cx="320040" cy="146304"/>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0" name="Text 18"/>
          <p:cNvSpPr/>
          <p:nvPr/>
        </p:nvSpPr>
        <p:spPr>
          <a:xfrm>
            <a:off x="1325880" y="4133088"/>
            <a:ext cx="4389120" cy="256032"/>
          </a:xfrm>
          <a:prstGeom prst="rect">
            <a:avLst/>
          </a:prstGeom>
          <a:noFill/>
          <a:ln/>
        </p:spPr>
        <p:txBody>
          <a:bodyPr wrap="square" lIns="0" tIns="0" rIns="0" bIns="0" rtlCol="0" anchor="ctr"/>
          <a:lstStyle/>
          <a:p>
            <a:pPr marL="0" indent="0">
              <a:buNone/>
            </a:pPr>
            <a:r>
              <a:rPr lang="en-US" sz="1530" b="1" dirty="0">
                <a:solidFill>
                  <a:srgbClr val="1D1715"/>
                </a:solidFill>
              </a:rPr>
              <a:t>Review pricing and cancellation patterns</a:t>
            </a:r>
            <a:endParaRPr lang="en-US" sz="1530" dirty="0"/>
          </a:p>
        </p:txBody>
      </p:sp>
      <p:sp>
        <p:nvSpPr>
          <p:cNvPr id="21" name="Text 19"/>
          <p:cNvSpPr/>
          <p:nvPr/>
        </p:nvSpPr>
        <p:spPr>
          <a:xfrm>
            <a:off x="5486400" y="4133088"/>
            <a:ext cx="5577840" cy="292608"/>
          </a:xfrm>
          <a:prstGeom prst="rect">
            <a:avLst/>
          </a:prstGeom>
          <a:noFill/>
          <a:ln/>
        </p:spPr>
        <p:txBody>
          <a:bodyPr wrap="square" lIns="0" tIns="0" rIns="0" bIns="0" rtlCol="0" anchor="ctr">
            <a:normAutofit/>
          </a:bodyPr>
          <a:lstStyle/>
          <a:p>
            <a:pPr marL="0" indent="0">
              <a:buNone/>
            </a:pPr>
            <a:r>
              <a:rPr lang="en-US" sz="1370" dirty="0">
                <a:solidFill>
                  <a:srgbClr val="4B4B4B"/>
                </a:solidFill>
              </a:rPr>
              <a:t>Explore whether higher-priced bookings need different retention strategies.</a:t>
            </a:r>
            <a:endParaRPr lang="en-US" sz="1370" dirty="0"/>
          </a:p>
        </p:txBody>
      </p:sp>
      <p:sp>
        <p:nvSpPr>
          <p:cNvPr id="22" name="Shape 20"/>
          <p:cNvSpPr/>
          <p:nvPr/>
        </p:nvSpPr>
        <p:spPr>
          <a:xfrm>
            <a:off x="868680" y="4974336"/>
            <a:ext cx="320040" cy="320040"/>
          </a:xfrm>
          <a:prstGeom prst="ellipse">
            <a:avLst/>
          </a:prstGeom>
          <a:solidFill>
            <a:srgbClr val="2F79A6"/>
          </a:solidFill>
          <a:ln w="12700">
            <a:solidFill>
              <a:srgbClr val="2F79A6"/>
            </a:solidFill>
            <a:prstDash val="solid"/>
          </a:ln>
        </p:spPr>
        <p:txBody>
          <a:bodyPr/>
          <a:lstStyle/>
          <a:p>
            <a:endParaRPr lang="en-US"/>
          </a:p>
        </p:txBody>
      </p:sp>
      <p:sp>
        <p:nvSpPr>
          <p:cNvPr id="23" name="Text 21"/>
          <p:cNvSpPr/>
          <p:nvPr/>
        </p:nvSpPr>
        <p:spPr>
          <a:xfrm>
            <a:off x="868680" y="5029200"/>
            <a:ext cx="320040" cy="146304"/>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24" name="Text 22"/>
          <p:cNvSpPr/>
          <p:nvPr/>
        </p:nvSpPr>
        <p:spPr>
          <a:xfrm>
            <a:off x="1325880" y="4974336"/>
            <a:ext cx="4389120" cy="256032"/>
          </a:xfrm>
          <a:prstGeom prst="rect">
            <a:avLst/>
          </a:prstGeom>
          <a:noFill/>
          <a:ln/>
        </p:spPr>
        <p:txBody>
          <a:bodyPr wrap="square" lIns="0" tIns="0" rIns="0" bIns="0" rtlCol="0" anchor="ctr"/>
          <a:lstStyle/>
          <a:p>
            <a:pPr marL="0" indent="0">
              <a:buNone/>
            </a:pPr>
            <a:r>
              <a:rPr lang="en-US" sz="1530" b="1" dirty="0">
                <a:solidFill>
                  <a:srgbClr val="1D1715"/>
                </a:solidFill>
              </a:rPr>
              <a:t>Use the model as an early warning tool</a:t>
            </a:r>
            <a:endParaRPr lang="en-US" sz="1530" dirty="0"/>
          </a:p>
        </p:txBody>
      </p:sp>
      <p:sp>
        <p:nvSpPr>
          <p:cNvPr id="25" name="Text 23"/>
          <p:cNvSpPr/>
          <p:nvPr/>
        </p:nvSpPr>
        <p:spPr>
          <a:xfrm>
            <a:off x="5486400" y="4974336"/>
            <a:ext cx="5577840" cy="292608"/>
          </a:xfrm>
          <a:prstGeom prst="rect">
            <a:avLst/>
          </a:prstGeom>
          <a:noFill/>
          <a:ln/>
        </p:spPr>
        <p:txBody>
          <a:bodyPr wrap="square" lIns="0" tIns="0" rIns="0" bIns="0" rtlCol="0" anchor="ctr">
            <a:normAutofit/>
          </a:bodyPr>
          <a:lstStyle/>
          <a:p>
            <a:pPr marL="0" indent="0">
              <a:buNone/>
            </a:pPr>
            <a:r>
              <a:rPr lang="en-US" sz="1370" dirty="0">
                <a:solidFill>
                  <a:srgbClr val="4B4B4B"/>
                </a:solidFill>
              </a:rPr>
              <a:t>Support proactive follow-up, room planning, and resource allocation.</a:t>
            </a:r>
            <a:endParaRPr lang="en-US" sz="1370" dirty="0"/>
          </a:p>
        </p:txBody>
      </p:sp>
      <p:sp>
        <p:nvSpPr>
          <p:cNvPr id="26"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38912"/>
            <a:ext cx="8046720" cy="411480"/>
          </a:xfrm>
          <a:prstGeom prst="rect">
            <a:avLst/>
          </a:prstGeom>
          <a:noFill/>
          <a:ln/>
        </p:spPr>
        <p:txBody>
          <a:bodyPr wrap="square" lIns="0" tIns="0" rIns="0" bIns="0" rtlCol="0" anchor="ctr"/>
          <a:lstStyle/>
          <a:p>
            <a:pPr marL="0" indent="0">
              <a:buNone/>
            </a:pPr>
            <a:r>
              <a:rPr lang="en-US" sz="2300" b="1" dirty="0">
                <a:solidFill>
                  <a:srgbClr val="1D1715"/>
                </a:solidFill>
                <a:latin typeface="Aptos Display" pitchFamily="34" charset="0"/>
                <a:ea typeface="Aptos Display" pitchFamily="34" charset="-122"/>
                <a:cs typeface="Aptos Display" pitchFamily="34" charset="-120"/>
              </a:rPr>
              <a:t>Business Impact, Limitations, and Next Steps</a:t>
            </a:r>
            <a:endParaRPr lang="en-US" sz="2300" dirty="0"/>
          </a:p>
        </p:txBody>
      </p:sp>
      <p:sp>
        <p:nvSpPr>
          <p:cNvPr id="3" name="Text 1"/>
          <p:cNvSpPr/>
          <p:nvPr/>
        </p:nvSpPr>
        <p:spPr>
          <a:xfrm>
            <a:off x="9144000" y="502920"/>
            <a:ext cx="2560320" cy="228600"/>
          </a:xfrm>
          <a:prstGeom prst="rect">
            <a:avLst/>
          </a:prstGeom>
          <a:noFill/>
          <a:ln/>
        </p:spPr>
        <p:txBody>
          <a:bodyPr wrap="square" lIns="0" tIns="0" rIns="0" bIns="0" rtlCol="0" anchor="ctr"/>
          <a:lstStyle/>
          <a:p>
            <a:pPr marL="0" indent="0" algn="r">
              <a:buNone/>
            </a:pPr>
            <a:r>
              <a:rPr lang="en-US" sz="850" b="1" dirty="0">
                <a:solidFill>
                  <a:srgbClr val="D8742A"/>
                </a:solidFill>
                <a:latin typeface="Aptos" pitchFamily="34" charset="0"/>
                <a:ea typeface="Aptos" pitchFamily="34" charset="-122"/>
                <a:cs typeface="Aptos" pitchFamily="34" charset="-120"/>
              </a:rPr>
              <a:t>Closing</a:t>
            </a:r>
            <a:endParaRPr lang="en-US" sz="850" dirty="0"/>
          </a:p>
        </p:txBody>
      </p:sp>
      <p:sp>
        <p:nvSpPr>
          <p:cNvPr id="4" name="Shape 2"/>
          <p:cNvSpPr/>
          <p:nvPr/>
        </p:nvSpPr>
        <p:spPr>
          <a:xfrm>
            <a:off x="457200" y="969264"/>
            <a:ext cx="11292840" cy="0"/>
          </a:xfrm>
          <a:prstGeom prst="line">
            <a:avLst/>
          </a:prstGeom>
          <a:noFill/>
          <a:ln w="19050">
            <a:solidFill>
              <a:srgbClr val="D8742A"/>
            </a:solidFill>
            <a:prstDash val="solid"/>
          </a:ln>
        </p:spPr>
        <p:txBody>
          <a:bodyPr/>
          <a:lstStyle/>
          <a:p>
            <a:endParaRPr lang="en-US"/>
          </a:p>
        </p:txBody>
      </p:sp>
      <p:sp>
        <p:nvSpPr>
          <p:cNvPr id="5" name="Shape 3"/>
          <p:cNvSpPr/>
          <p:nvPr/>
        </p:nvSpPr>
        <p:spPr>
          <a:xfrm>
            <a:off x="594360" y="1234440"/>
            <a:ext cx="3611880" cy="4800600"/>
          </a:xfrm>
          <a:prstGeom prst="roundRect">
            <a:avLst>
              <a:gd name="adj" fmla="val 2025"/>
            </a:avLst>
          </a:prstGeom>
          <a:solidFill>
            <a:srgbClr val="FFFFFF"/>
          </a:solidFill>
          <a:ln w="12700">
            <a:solidFill>
              <a:srgbClr val="E3D8CC"/>
            </a:solidFill>
            <a:prstDash val="solid"/>
          </a:ln>
        </p:spPr>
        <p:txBody>
          <a:bodyPr/>
          <a:lstStyle/>
          <a:p>
            <a:endParaRPr lang="en-US"/>
          </a:p>
        </p:txBody>
      </p:sp>
      <p:sp>
        <p:nvSpPr>
          <p:cNvPr id="6" name="Text 4"/>
          <p:cNvSpPr/>
          <p:nvPr/>
        </p:nvSpPr>
        <p:spPr>
          <a:xfrm>
            <a:off x="868680" y="1554480"/>
            <a:ext cx="2926080" cy="320040"/>
          </a:xfrm>
          <a:prstGeom prst="rect">
            <a:avLst/>
          </a:prstGeom>
          <a:noFill/>
          <a:ln/>
        </p:spPr>
        <p:txBody>
          <a:bodyPr wrap="square" rtlCol="0" anchor="ctr"/>
          <a:lstStyle/>
          <a:p>
            <a:pPr marL="0" indent="0">
              <a:buNone/>
            </a:pPr>
            <a:r>
              <a:rPr lang="en-US" sz="1800" b="1" dirty="0">
                <a:solidFill>
                  <a:srgbClr val="1D1715"/>
                </a:solidFill>
              </a:rPr>
              <a:t>Business impact</a:t>
            </a:r>
            <a:endParaRPr lang="en-US" sz="1800" dirty="0"/>
          </a:p>
        </p:txBody>
      </p:sp>
      <p:sp>
        <p:nvSpPr>
          <p:cNvPr id="7" name="Text 5"/>
          <p:cNvSpPr/>
          <p:nvPr/>
        </p:nvSpPr>
        <p:spPr>
          <a:xfrm>
            <a:off x="914400" y="2057400"/>
            <a:ext cx="2880360" cy="20116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D1715"/>
                </a:solidFill>
                <a:latin typeface="Aptos" pitchFamily="34" charset="0"/>
                <a:ea typeface="Aptos" pitchFamily="34" charset="-122"/>
                <a:cs typeface="Aptos" pitchFamily="34" charset="-120"/>
              </a:rPr>
              <a:t>Identify high-risk bookings earlier</a:t>
            </a:r>
            <a:endParaRPr lang="en-US" sz="1600" dirty="0"/>
          </a:p>
          <a:p>
            <a:pPr marL="285750" indent="-285750">
              <a:buFont typeface="Arial" panose="020B0604020202020204" pitchFamily="34" charset="0"/>
              <a:buChar char="•"/>
            </a:pPr>
            <a:r>
              <a:rPr lang="en-US" sz="1600" dirty="0">
                <a:solidFill>
                  <a:srgbClr val="1D1715"/>
                </a:solidFill>
                <a:latin typeface="Aptos" pitchFamily="34" charset="0"/>
                <a:ea typeface="Aptos" pitchFamily="34" charset="-122"/>
                <a:cs typeface="Aptos" pitchFamily="34" charset="-120"/>
              </a:rPr>
              <a:t>Improve room and staffing plans</a:t>
            </a:r>
          </a:p>
          <a:p>
            <a:pPr marL="285750" indent="-285750">
              <a:buFont typeface="Arial" panose="020B0604020202020204" pitchFamily="34" charset="0"/>
              <a:buChar char="•"/>
            </a:pPr>
            <a:r>
              <a:rPr lang="en-US" sz="1600" dirty="0">
                <a:solidFill>
                  <a:srgbClr val="1D1715"/>
                </a:solidFill>
                <a:latin typeface="Aptos" pitchFamily="34" charset="0"/>
                <a:ea typeface="Aptos" pitchFamily="34" charset="-122"/>
                <a:cs typeface="Aptos" pitchFamily="34" charset="-120"/>
              </a:rPr>
              <a:t>Support targeted customer retention</a:t>
            </a:r>
            <a:endParaRPr lang="en-US" sz="1600" dirty="0"/>
          </a:p>
        </p:txBody>
      </p:sp>
      <p:sp>
        <p:nvSpPr>
          <p:cNvPr id="8" name="Shape 6"/>
          <p:cNvSpPr/>
          <p:nvPr/>
        </p:nvSpPr>
        <p:spPr>
          <a:xfrm>
            <a:off x="4434840" y="1234440"/>
            <a:ext cx="3611880" cy="4800600"/>
          </a:xfrm>
          <a:prstGeom prst="roundRect">
            <a:avLst>
              <a:gd name="adj" fmla="val 2025"/>
            </a:avLst>
          </a:prstGeom>
          <a:solidFill>
            <a:srgbClr val="FFFDFB"/>
          </a:solidFill>
          <a:ln w="12700">
            <a:solidFill>
              <a:srgbClr val="E3D8CC"/>
            </a:solidFill>
            <a:prstDash val="solid"/>
          </a:ln>
        </p:spPr>
        <p:txBody>
          <a:bodyPr/>
          <a:lstStyle/>
          <a:p>
            <a:endParaRPr lang="en-US"/>
          </a:p>
        </p:txBody>
      </p:sp>
      <p:sp>
        <p:nvSpPr>
          <p:cNvPr id="9" name="Text 7"/>
          <p:cNvSpPr/>
          <p:nvPr/>
        </p:nvSpPr>
        <p:spPr>
          <a:xfrm>
            <a:off x="4709160" y="1554480"/>
            <a:ext cx="2926080" cy="320040"/>
          </a:xfrm>
          <a:prstGeom prst="rect">
            <a:avLst/>
          </a:prstGeom>
          <a:noFill/>
          <a:ln/>
        </p:spPr>
        <p:txBody>
          <a:bodyPr wrap="square" rtlCol="0" anchor="ctr"/>
          <a:lstStyle/>
          <a:p>
            <a:pPr marL="0" indent="0">
              <a:buNone/>
            </a:pPr>
            <a:r>
              <a:rPr lang="en-US" sz="1800" b="1" dirty="0">
                <a:solidFill>
                  <a:srgbClr val="1D1715"/>
                </a:solidFill>
              </a:rPr>
              <a:t>Limitations</a:t>
            </a:r>
            <a:endParaRPr lang="en-US" sz="1800" dirty="0"/>
          </a:p>
        </p:txBody>
      </p:sp>
      <p:sp>
        <p:nvSpPr>
          <p:cNvPr id="10" name="Text 8"/>
          <p:cNvSpPr/>
          <p:nvPr/>
        </p:nvSpPr>
        <p:spPr>
          <a:xfrm>
            <a:off x="4754880" y="2057400"/>
            <a:ext cx="2880360" cy="201168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D1715"/>
                </a:solidFill>
                <a:latin typeface="Aptos" pitchFamily="34" charset="0"/>
                <a:ea typeface="Aptos" pitchFamily="34" charset="-122"/>
                <a:cs typeface="Aptos" pitchFamily="34" charset="-120"/>
              </a:rPr>
              <a:t>Historical data may not reflect future behavior</a:t>
            </a:r>
          </a:p>
          <a:p>
            <a:pPr marL="285750" indent="-285750">
              <a:buFont typeface="Arial" panose="020B0604020202020204" pitchFamily="34" charset="0"/>
              <a:buChar char="•"/>
            </a:pPr>
            <a:r>
              <a:rPr lang="en-US" sz="1600" dirty="0">
                <a:solidFill>
                  <a:srgbClr val="1D1715"/>
                </a:solidFill>
                <a:latin typeface="Aptos" pitchFamily="34" charset="0"/>
                <a:ea typeface="Aptos" pitchFamily="34" charset="-122"/>
                <a:cs typeface="Aptos" pitchFamily="34" charset="-120"/>
              </a:rPr>
              <a:t>Cancellation reasons were not included</a:t>
            </a:r>
            <a:endParaRPr lang="en-US" sz="1600" dirty="0"/>
          </a:p>
        </p:txBody>
      </p:sp>
      <p:sp>
        <p:nvSpPr>
          <p:cNvPr id="11" name="Shape 9"/>
          <p:cNvSpPr/>
          <p:nvPr/>
        </p:nvSpPr>
        <p:spPr>
          <a:xfrm>
            <a:off x="8275320" y="1234440"/>
            <a:ext cx="3337560" cy="4800600"/>
          </a:xfrm>
          <a:prstGeom prst="roundRect">
            <a:avLst>
              <a:gd name="adj" fmla="val 2192"/>
            </a:avLst>
          </a:prstGeom>
          <a:solidFill>
            <a:srgbClr val="FFFFFF"/>
          </a:solidFill>
          <a:ln w="12700">
            <a:solidFill>
              <a:srgbClr val="E3D8CC"/>
            </a:solidFill>
            <a:prstDash val="solid"/>
          </a:ln>
        </p:spPr>
        <p:txBody>
          <a:bodyPr/>
          <a:lstStyle/>
          <a:p>
            <a:endParaRPr lang="en-US"/>
          </a:p>
        </p:txBody>
      </p:sp>
      <p:sp>
        <p:nvSpPr>
          <p:cNvPr id="12" name="Text 10"/>
          <p:cNvSpPr/>
          <p:nvPr/>
        </p:nvSpPr>
        <p:spPr>
          <a:xfrm>
            <a:off x="8549640" y="1554480"/>
            <a:ext cx="2743200" cy="320040"/>
          </a:xfrm>
          <a:prstGeom prst="rect">
            <a:avLst/>
          </a:prstGeom>
          <a:noFill/>
          <a:ln/>
        </p:spPr>
        <p:txBody>
          <a:bodyPr wrap="square" rtlCol="0" anchor="ctr"/>
          <a:lstStyle/>
          <a:p>
            <a:pPr marL="0" indent="0">
              <a:buNone/>
            </a:pPr>
            <a:r>
              <a:rPr lang="en-US" sz="1800" b="1" dirty="0">
                <a:solidFill>
                  <a:srgbClr val="1D1715"/>
                </a:solidFill>
              </a:rPr>
              <a:t>Next steps</a:t>
            </a:r>
            <a:endParaRPr lang="en-US" sz="1800" dirty="0"/>
          </a:p>
        </p:txBody>
      </p:sp>
      <p:sp>
        <p:nvSpPr>
          <p:cNvPr id="13" name="Text 11"/>
          <p:cNvSpPr/>
          <p:nvPr/>
        </p:nvSpPr>
        <p:spPr>
          <a:xfrm>
            <a:off x="8595360" y="2057400"/>
            <a:ext cx="2606040" cy="2560320"/>
          </a:xfrm>
          <a:prstGeom prst="rect">
            <a:avLst/>
          </a:prstGeom>
          <a:noFill/>
          <a:ln/>
        </p:spPr>
        <p:txBody>
          <a:bodyPr wrap="square" lIns="635" tIns="635" rIns="635" bIns="635" rtlCol="0" anchor="t">
            <a:normAutofit/>
          </a:bodyPr>
          <a:lstStyle/>
          <a:p>
            <a:pPr marL="285750" indent="-285750">
              <a:buFont typeface="Arial" panose="020B0604020202020204" pitchFamily="34" charset="0"/>
              <a:buChar char="•"/>
            </a:pPr>
            <a:r>
              <a:rPr lang="en-US" sz="1600" dirty="0">
                <a:solidFill>
                  <a:srgbClr val="1D1715"/>
                </a:solidFill>
                <a:latin typeface="Aptos" pitchFamily="34" charset="0"/>
                <a:ea typeface="Aptos" pitchFamily="34" charset="-122"/>
                <a:cs typeface="Aptos" pitchFamily="34" charset="-120"/>
              </a:rPr>
              <a:t>Test on newer booking data</a:t>
            </a:r>
          </a:p>
          <a:p>
            <a:pPr marL="285750" indent="-285750">
              <a:buFont typeface="Arial" panose="020B0604020202020204" pitchFamily="34" charset="0"/>
              <a:buChar char="•"/>
            </a:pPr>
            <a:r>
              <a:rPr lang="en-US" sz="1600" dirty="0">
                <a:solidFill>
                  <a:srgbClr val="1D1715"/>
                </a:solidFill>
                <a:latin typeface="Aptos" pitchFamily="34" charset="0"/>
                <a:ea typeface="Aptos" pitchFamily="34" charset="-122"/>
                <a:cs typeface="Aptos" pitchFamily="34" charset="-120"/>
              </a:rPr>
              <a:t>Monitor performance over time</a:t>
            </a:r>
          </a:p>
          <a:p>
            <a:pPr marL="285750" indent="-285750">
              <a:buFont typeface="Arial" panose="020B0604020202020204" pitchFamily="34" charset="0"/>
              <a:buChar char="•"/>
            </a:pPr>
            <a:r>
              <a:rPr lang="en-US" sz="1600" dirty="0">
                <a:solidFill>
                  <a:srgbClr val="1D1715"/>
                </a:solidFill>
                <a:latin typeface="Aptos" pitchFamily="34" charset="0"/>
                <a:ea typeface="Aptos" pitchFamily="34" charset="-122"/>
                <a:cs typeface="Aptos" pitchFamily="34" charset="-120"/>
              </a:rPr>
              <a:t>Use predictions with staff judgment</a:t>
            </a:r>
            <a:endParaRPr lang="en-US" sz="1600" dirty="0"/>
          </a:p>
        </p:txBody>
      </p:sp>
      <p:sp>
        <p:nvSpPr>
          <p:cNvPr id="14" name="Shape 12"/>
          <p:cNvSpPr/>
          <p:nvPr/>
        </p:nvSpPr>
        <p:spPr>
          <a:xfrm>
            <a:off x="868680" y="5212080"/>
            <a:ext cx="10332720" cy="0"/>
          </a:xfrm>
          <a:prstGeom prst="line">
            <a:avLst/>
          </a:prstGeom>
          <a:noFill/>
          <a:ln w="25400">
            <a:solidFill>
              <a:srgbClr val="D8742A"/>
            </a:solidFill>
            <a:prstDash val="solid"/>
          </a:ln>
        </p:spPr>
        <p:txBody>
          <a:bodyPr/>
          <a:lstStyle/>
          <a:p>
            <a:endParaRPr lang="en-US"/>
          </a:p>
        </p:txBody>
      </p:sp>
      <p:sp>
        <p:nvSpPr>
          <p:cNvPr id="15" name="Text 13"/>
          <p:cNvSpPr/>
          <p:nvPr/>
        </p:nvSpPr>
        <p:spPr>
          <a:xfrm>
            <a:off x="914400" y="5440680"/>
            <a:ext cx="10149840" cy="320040"/>
          </a:xfrm>
          <a:prstGeom prst="rect">
            <a:avLst/>
          </a:prstGeom>
          <a:noFill/>
          <a:ln/>
        </p:spPr>
        <p:txBody>
          <a:bodyPr wrap="square" lIns="0" tIns="0" rIns="0" bIns="0" rtlCol="0" anchor="ctr"/>
          <a:lstStyle/>
          <a:p>
            <a:pPr marL="0" indent="0" algn="ctr">
              <a:buNone/>
            </a:pPr>
            <a:r>
              <a:rPr lang="en-US" sz="1420" b="1" dirty="0">
                <a:solidFill>
                  <a:srgbClr val="1E5C80"/>
                </a:solidFill>
              </a:rPr>
              <a:t>Final takeaway: booking data can support earlier cancellation risk detection and better business planning.</a:t>
            </a:r>
            <a:endParaRPr lang="en-US" sz="1420" dirty="0"/>
          </a:p>
        </p:txBody>
      </p:sp>
      <p:sp>
        <p:nvSpPr>
          <p:cNvPr id="25" name="Slide Number Placeholder 0"/>
          <p:cNvSpPr>
            <a:spLocks noGrp="1"/>
          </p:cNvSpPr>
          <p:nvPr>
            <p:ph type="sldNum" sz="quarter" idx="4294967295"/>
          </p:nvPr>
        </p:nvSpPr>
        <p:spPr>
          <a:xfrm>
            <a:off x="1124712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FFFFFF"/>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1692</Words>
  <Application>Microsoft Office PowerPoint</Application>
  <PresentationFormat>Widescreen</PresentationFormat>
  <Paragraphs>230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10Alytics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Booking Trends in the Hospitality Industry</dc:title>
  <dc:subject>Hotel Haven ML Capstone</dc:subject>
  <dc:creator>Edidiong Ekanem</dc:creator>
  <cp:lastModifiedBy>Edidiong Ekanem</cp:lastModifiedBy>
  <cp:revision>1</cp:revision>
  <dcterms:created xsi:type="dcterms:W3CDTF">2026-06-10T18:51:18Z</dcterms:created>
  <dcterms:modified xsi:type="dcterms:W3CDTF">2026-06-14T19:08:33Z</dcterms:modified>
</cp:coreProperties>
</file>